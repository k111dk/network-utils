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0" r:id="rId3"/>
    <p:sldId id="259" r:id="rId4"/>
    <p:sldId id="257" r:id="rId5"/>
    <p:sldId id="261" r:id="rId6"/>
    <p:sldId id="260" r:id="rId7"/>
    <p:sldId id="262" r:id="rId8"/>
    <p:sldId id="271" r:id="rId9"/>
    <p:sldId id="263" r:id="rId10"/>
    <p:sldId id="264" r:id="rId11"/>
    <p:sldId id="265" r:id="rId12"/>
    <p:sldId id="266" r:id="rId13"/>
    <p:sldId id="272" r:id="rId14"/>
    <p:sldId id="267" r:id="rId15"/>
    <p:sldId id="268"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646"/>
    <a:srgbClr val="10B981"/>
    <a:srgbClr val="0891B2"/>
    <a:srgbClr val="1B3A5C"/>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594" autoAdjust="0"/>
  </p:normalViewPr>
  <p:slideViewPr>
    <p:cSldViewPr snapToGrid="0" snapToObjects="1">
      <p:cViewPr varScale="1">
        <p:scale>
          <a:sx n="83" d="100"/>
          <a:sy n="83" d="100"/>
        </p:scale>
        <p:origin x="89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E42FF1-2249-48AF-9902-64368D1AE59B}" type="datetimeFigureOut">
              <a:rPr lang="zh-CN" altLang="en-US" smtClean="0"/>
              <a:t>2026/6/12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4AF8EB-E2B9-40E9-BA9D-637D8F335EA9}" type="slidenum">
              <a:rPr lang="zh-CN" altLang="en-US" smtClean="0"/>
              <a:t>‹#›</a:t>
            </a:fld>
            <a:endParaRPr lang="zh-CN" altLang="en-US"/>
          </a:p>
        </p:txBody>
      </p:sp>
    </p:spTree>
    <p:extLst>
      <p:ext uri="{BB962C8B-B14F-4D97-AF65-F5344CB8AC3E}">
        <p14:creationId xmlns:p14="http://schemas.microsoft.com/office/powerpoint/2010/main" val="4096970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Good morning everyone. Today I am delighted to present our work, MARL, a Multi-Agent Reinforcement Learning framework for buffer management in multi-tenant cloud databases. This is a joint work at the University of Science and Technology of China, published at the IEEE ICDCS 2026 Industrial </a:t>
            </a:r>
            <a:r>
              <a:rPr lang="en-US" dirty="0"/>
              <a:t>E</a:t>
            </a:r>
            <a:r>
              <a:rPr lang="en-US" altLang="zh-CN" dirty="0"/>
              <a:t>vent</a:t>
            </a:r>
            <a:r>
              <a:rPr dirty="0"/>
              <a:t>. In modern cloud DBaaS platforms, multiple tenants share the same physical resources, and dynamically managing the shared buffer pool is a critical yet challenging problem. Our MARL framework addresses this by modeling each tenant as an independent reinforcement learning agent that learns to adjust its buffer allocation in a cooperative manner.</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Let me begin with the background. Over the past decade, relational Database-as-a-Service has been widely adopted by enterprises. Major providers such as Amazon Aurora, Azure SQL Database, and Google Cloud SQL all rely on multi-tenancy to maximize hardware utilization and reduce operational costs. </a:t>
            </a:r>
            <a:endParaRPr lang="en-US" dirty="0"/>
          </a:p>
          <a:p>
            <a:endParaRPr lang="en-US" dirty="0"/>
          </a:p>
          <a:p>
            <a:r>
              <a:rPr dirty="0"/>
              <a:t>In a multi-tenant model, multiple databases from different customers share the same physical data center resources. Providers face a key trade-off: they need to satisfy tenants' performance guarantees defined by Service Level Agreements, or SLAs, while minimizing the physical resources consumed.</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Now, why is the buffer pool so important? The buffer pool is a critical database component that caches frequently accessed pages, thereby reducing expensive disk I/O. In cloud-native DBaaS architectures, this is even more crucial, because buffer misses trigger remote storage access over the network, introducing orders-of-magnitude higher latency compared to local disk access. This brings us to the core challenge: how can we dynamically manage a shared buffer pool among unpredictable and volatile multi-tenant workloads, while satisfying each tenant's SLA? Traditional approaches fall short, and that is exactly the problem our MARL framework addresses using multi-agent reinforcement learning.</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Before introducing MARL, let me review the limitations of existing approaches. </a:t>
            </a:r>
            <a:endParaRPr lang="en-US" dirty="0"/>
          </a:p>
          <a:p>
            <a:endParaRPr lang="en-US" dirty="0"/>
          </a:p>
          <a:p>
            <a:r>
              <a:rPr dirty="0"/>
              <a:t>They fall into three categories. First, traditional and ML-based replacement policies such as LRU, ARC, </a:t>
            </a:r>
            <a:r>
              <a:rPr dirty="0" err="1"/>
              <a:t>LeCaR</a:t>
            </a:r>
            <a:r>
              <a:rPr dirty="0"/>
              <a:t>, and LRB manage all pages in a single global pool without tenant-level isolation, which means they cannot directly address the multi-tenant buffer management problem. </a:t>
            </a:r>
            <a:endParaRPr lang="en-US" dirty="0"/>
          </a:p>
          <a:p>
            <a:endParaRPr lang="en-US" dirty="0"/>
          </a:p>
          <a:p>
            <a:r>
              <a:rPr dirty="0"/>
              <a:t>Second, static partitioning ensures isolation by pre-allocating buffer based on promised sizes, but it leads to significant resource waste when workloads change, since idle buffers cannot be reclaimed by other tenants. </a:t>
            </a:r>
            <a:endParaRPr lang="en-US" dirty="0"/>
          </a:p>
          <a:p>
            <a:endParaRPr lang="en-US" dirty="0"/>
          </a:p>
          <a:p>
            <a:r>
              <a:rPr dirty="0"/>
              <a:t>Third, heuristic approaches like SAM employ stability-aware heuristic control for multi-tenant embedded databases. However, SAM relies on hand-crafted rules rather than learned policies, which limits resource utilization under highly dynamic workloads.</a:t>
            </a:r>
            <a:r>
              <a:rPr lang="en-US" dirty="0"/>
              <a:t> </a:t>
            </a:r>
          </a:p>
          <a:p>
            <a:endParaRPr lang="en-US" dirty="0"/>
          </a:p>
          <a:p>
            <a:r>
              <a:rPr lang="en-US" dirty="0"/>
              <a:t>Motivated by shortcomings of existing methods, our approach enhance performance through a SLA-driven and learning-based framework</a:t>
            </a:r>
            <a:endParaRPr dirty="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At the core of MARL is an SLA-aware cost model that directly guides the optimization. </a:t>
            </a:r>
            <a:endParaRPr lang="en-US" dirty="0"/>
          </a:p>
          <a:p>
            <a:endParaRPr lang="en-US" dirty="0"/>
          </a:p>
          <a:p>
            <a:r>
              <a:rPr dirty="0"/>
              <a:t>We first define a baseline hit ratio, HR promised, which represents the expected performance when a tenant is statically allocated its promised buffer capacity. The Hit Ratio Degradation, or HRD, measures how far the actual hit ratio falls below this baseline, formulated as the maximum of the difference and zero. </a:t>
            </a:r>
            <a:endParaRPr lang="en-US" dirty="0"/>
          </a:p>
          <a:p>
            <a:endParaRPr lang="en-US" dirty="0"/>
          </a:p>
          <a:p>
            <a:r>
              <a:rPr dirty="0"/>
              <a:t>The SLA cost for each tenant is then defined as the product of the tenant's SLA price, m-</a:t>
            </a:r>
            <a:r>
              <a:rPr dirty="0" err="1"/>
              <a:t>i</a:t>
            </a:r>
            <a:r>
              <a:rPr dirty="0"/>
              <a:t>, and their HRD. Here, m-</a:t>
            </a:r>
            <a:r>
              <a:rPr dirty="0" err="1"/>
              <a:t>i</a:t>
            </a:r>
            <a:r>
              <a:rPr dirty="0"/>
              <a:t> reflects the economic importance of that tenant's service guarantee. </a:t>
            </a:r>
            <a:endParaRPr lang="en-US" dirty="0"/>
          </a:p>
          <a:p>
            <a:endParaRPr lang="en-US" dirty="0"/>
          </a:p>
          <a:p>
            <a:r>
              <a:rPr dirty="0"/>
              <a:t>Our global optimization objective is to minimize the total SLA cost across all tenants. This cost model is what distinguishes MARL from prior work: it enables the system to prioritize buffer allocation based on economic impact rather than just raw hit ratios.</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dirty="0"/>
              <a:t>Now let me walk you through the overall architecture of MARL, which consists of three main components. </a:t>
            </a:r>
            <a:endParaRPr lang="en-US" dirty="0"/>
          </a:p>
          <a:p>
            <a:endParaRPr lang="en-US" dirty="0"/>
          </a:p>
          <a:p>
            <a:r>
              <a:rPr dirty="0"/>
              <a:t>First, the Monitor continuously collects runtime statistics for each tenant from the database system, including the SLA cost, actual and promised buffer sizes, and request traffic intensity. These metrics are aggregated over a fixed control interval and normalized to construct the state representation for each RL agent. By providing both tenant-level and system-wide statistics, the Monitor enables agents to reason about their local performance in the context of global conditions. </a:t>
            </a:r>
            <a:endParaRPr lang="en-US" dirty="0"/>
          </a:p>
          <a:p>
            <a:endParaRPr lang="en-US" dirty="0"/>
          </a:p>
          <a:p>
            <a:r>
              <a:rPr dirty="0"/>
              <a:t>Second, the Agent Layer models each tenant as an independent RL agent that observes its own state and decides whether to Grow or Shrink its buffer allocation. All agents maintain separate observations and actions. </a:t>
            </a:r>
            <a:endParaRPr lang="en-US" dirty="0"/>
          </a:p>
          <a:p>
            <a:endParaRPr lang="en-US" dirty="0"/>
          </a:p>
          <a:p>
            <a:r>
              <a:rPr dirty="0"/>
              <a:t>Third, the Allocator aggregates all agents' actions, collects the buffer space released by tenants who choose Shrink, and redistributes it to those requesting Grow through a matching process.</a:t>
            </a:r>
          </a:p>
        </p:txBody>
      </p:sp>
      <p:sp>
        <p:nvSpPr>
          <p:cNvPr id="4" name="灯片编号占位符 3"/>
          <p:cNvSpPr>
            <a:spLocks noGrp="1"/>
          </p:cNvSpPr>
          <p:nvPr>
            <p:ph type="sldNum" sz="quarter" idx="5"/>
          </p:nvPr>
        </p:nvSpPr>
        <p:spPr/>
        <p:txBody>
          <a:bodyPr/>
          <a:lstStyle/>
          <a:p>
            <a:fld id="{9B4AF8EB-E2B9-40E9-BA9D-637D8F335EA9}" type="slidenum">
              <a:rPr lang="zh-CN" altLang="en-US" smtClean="0"/>
              <a:t>6</a:t>
            </a:fld>
            <a:endParaRPr lang="zh-CN" altLang="en-US"/>
          </a:p>
        </p:txBody>
      </p:sp>
    </p:spTree>
    <p:extLst>
      <p:ext uri="{BB962C8B-B14F-4D97-AF65-F5344CB8AC3E}">
        <p14:creationId xmlns:p14="http://schemas.microsoft.com/office/powerpoint/2010/main" val="2668366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Let me now detail the RL agent design. </a:t>
            </a:r>
            <a:endParaRPr lang="en-US" dirty="0"/>
          </a:p>
          <a:p>
            <a:endParaRPr lang="en-US" dirty="0"/>
          </a:p>
          <a:p>
            <a:r>
              <a:rPr dirty="0"/>
              <a:t>The state representation is six-dimensional, integrating both tenant-specific and system-wide metrics. Specifically, it includes the average and per-tenant SLA cost, the average and per-tenant ratio of promised to actual buffer size, the tenant's proportion of total buffer size, and its proportion of buffer requests. This design enables each agent to assess its local situation while being aware of global system conditions. </a:t>
            </a:r>
            <a:endParaRPr lang="en-US" dirty="0"/>
          </a:p>
          <a:p>
            <a:endParaRPr lang="en-US" dirty="0"/>
          </a:p>
          <a:p>
            <a:r>
              <a:rPr dirty="0"/>
              <a:t>The action space is binary: each agent chooses either Grow or Shrink at each decision epoch. The adjustment granularity G-</a:t>
            </a:r>
            <a:r>
              <a:rPr dirty="0" err="1"/>
              <a:t>i</a:t>
            </a:r>
            <a:r>
              <a:rPr dirty="0"/>
              <a:t> is defined as the system-wide actual-to-promised buffer ratio, times the tenant's promised buffer size, times three percent. This scaling prevents both aggressive and negligible buffer changes. </a:t>
            </a:r>
            <a:endParaRPr lang="en-US" dirty="0"/>
          </a:p>
          <a:p>
            <a:endParaRPr lang="en-US" dirty="0"/>
          </a:p>
          <a:p>
            <a:r>
              <a:rPr dirty="0"/>
              <a:t>Now, the reward function is key to our cooperative design. When a tenant chooses to Shrink, its released buffer is distributed to other tenants. The reward for that tenant accounts for both its own SLA cost change and the weighted contribution to other tenants' SLA cost improvements, where R-j represents the proportion of resources tenant j received from tenant </a:t>
            </a:r>
            <a:r>
              <a:rPr dirty="0" err="1"/>
              <a:t>i</a:t>
            </a:r>
            <a:r>
              <a:rPr dirty="0"/>
              <a:t>. </a:t>
            </a:r>
            <a:endParaRPr lang="en-US" dirty="0"/>
          </a:p>
          <a:p>
            <a:endParaRPr lang="en-US" dirty="0"/>
          </a:p>
          <a:p>
            <a:r>
              <a:rPr dirty="0"/>
              <a:t>This design encourages agents to release buffer when doing so significantly benefits others without severely hurting their own performance.</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Next, I will explain the buffer reallocation process executed by the Allocator, which operates in </a:t>
            </a:r>
            <a:r>
              <a:rPr lang="en-US" dirty="0"/>
              <a:t>four</a:t>
            </a:r>
            <a:r>
              <a:rPr dirty="0"/>
              <a:t> main phases. </a:t>
            </a:r>
            <a:endParaRPr lang="en-US" dirty="0"/>
          </a:p>
          <a:p>
            <a:r>
              <a:rPr dirty="0"/>
              <a:t>In Phase 1, Partition, we first compute the adjustment granularity G-</a:t>
            </a:r>
            <a:r>
              <a:rPr dirty="0" err="1"/>
              <a:t>i</a:t>
            </a:r>
            <a:r>
              <a:rPr dirty="0"/>
              <a:t> for each tenant based on the formula we just discussed. Then, tenants who choose Shrink are placed into a shrink queue with their available buffer tracked, while tenants who choose Grow are placed into a grow queue with their needed buffer tracked. </a:t>
            </a:r>
            <a:endParaRPr lang="en-US" dirty="0"/>
          </a:p>
          <a:p>
            <a:endParaRPr lang="en-US" dirty="0"/>
          </a:p>
          <a:p>
            <a:r>
              <a:rPr dirty="0"/>
              <a:t>In Phase 2, Matching, we iteratively pair shrinkers with growers. In each iteration, we transfer the minimum of the needed versus available buffer from a shrinker to a grower, and pop satisfied or exhausted tenants from their respective queues. This continues until either queue is empty. During training, the matching order is randomized for exploration fairness; in production, this can be readily adapted to a priority-based queue with high-priority tenants served first. </a:t>
            </a:r>
            <a:endParaRPr lang="en-US" dirty="0"/>
          </a:p>
          <a:p>
            <a:endParaRPr lang="en-US" dirty="0"/>
          </a:p>
          <a:p>
            <a:r>
              <a:rPr lang="en-US" altLang="zh-CN" dirty="0"/>
              <a:t>In Phase 3, </a:t>
            </a:r>
            <a:r>
              <a:rPr dirty="0"/>
              <a:t>After </a:t>
            </a:r>
            <a:r>
              <a:rPr lang="en-US" dirty="0"/>
              <a:t>getting the </a:t>
            </a:r>
            <a:r>
              <a:rPr dirty="0"/>
              <a:t>reallocation</a:t>
            </a:r>
            <a:r>
              <a:rPr lang="en-US" dirty="0"/>
              <a:t> action </a:t>
            </a:r>
            <a:r>
              <a:rPr dirty="0"/>
              <a:t>, the results are sent to the database background thread for execution</a:t>
            </a:r>
            <a:endParaRPr lang="en-US" dirty="0"/>
          </a:p>
          <a:p>
            <a:endParaRPr lang="en-US" dirty="0"/>
          </a:p>
          <a:p>
            <a:r>
              <a:rPr lang="en-US" altLang="zh-CN" dirty="0"/>
              <a:t>In Phase 4, </a:t>
            </a:r>
            <a:r>
              <a:rPr dirty="0"/>
              <a:t>the reward is computed and fed back to </a:t>
            </a:r>
            <a:r>
              <a:rPr lang="en-US" dirty="0"/>
              <a:t>Agent Layer to </a:t>
            </a:r>
            <a:r>
              <a:rPr dirty="0"/>
              <a:t>update the RL model.</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Now let me describe the implementation details. We implemented MARL in OpenGauss 5.1.0, a production-grade open-source relational database. Tenants are identified by the database name specified in each access request. A dedicated background thread periodically collects tenant metrics and transmits state information to the RL agent via shared memory. Once the Allocator computes the reallocation plan, the results are sent back via shared memory to the background thread, which then resizes the corresponding tenants' buffer pools. Importantly, this entire adjustment process, including RL inference and fine-tuning, operates completely off the critical path of buffer requests, adding zero latency to database operations. We develop our RL model based on Proximal Policy Optimization, or PPO, which performs periodic policy updates to ensure stable and efficient learning. The reward coefficient beta is set to 0.3, with hidden layers of size 50 by 50, a learning rate of 10 to the minus 4, and a discount factor of 0.9. The model is pre-trained for 4 hours offline in a Python simulator before deployment.</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Let me now describe our experimental setup. All experiments are conducted on a server equipped with an Intel Xeon Gold 6348 CPU with 28 cores at 2.6 gigahertz, 256 gigabytes of DDR4 memory, and a Western Digital </a:t>
            </a:r>
            <a:r>
              <a:rPr dirty="0" err="1"/>
              <a:t>NVMe</a:t>
            </a:r>
            <a:r>
              <a:rPr dirty="0"/>
              <a:t> SSD, running Ubuntu 22.04. </a:t>
            </a:r>
            <a:endParaRPr lang="en-US" dirty="0"/>
          </a:p>
          <a:p>
            <a:endParaRPr lang="en-US" dirty="0"/>
          </a:p>
          <a:p>
            <a:r>
              <a:rPr dirty="0"/>
              <a:t>The workload is generated by YCSB, comprising 8 tenants. Half of the tenants are high-priority with an SLA price of 2 and a promised buffer size of 10 percent of the database size; the other half are low-priority with an SLA price of 1 and a promised buffer size of 5 percent. </a:t>
            </a:r>
            <a:endParaRPr lang="en-US" dirty="0"/>
          </a:p>
          <a:p>
            <a:endParaRPr lang="en-US" dirty="0"/>
          </a:p>
          <a:p>
            <a:r>
              <a:rPr dirty="0"/>
              <a:t>Each tenant maintains 2 million records, each 1 kilobyte in size, yielding a database of approximately 2 gigabytes. We test four access patterns: scan, latest, </a:t>
            </a:r>
            <a:r>
              <a:rPr dirty="0" err="1"/>
              <a:t>zipfian</a:t>
            </a:r>
            <a:r>
              <a:rPr dirty="0"/>
              <a:t>, and uniform. To maximize workload diversity, the execution sequence of these patterns differs across tenants with the same SLA price. The actual buffer size defaults to 50 percent of the total promised buffer size. </a:t>
            </a:r>
            <a:endParaRPr lang="en-US" dirty="0"/>
          </a:p>
          <a:p>
            <a:endParaRPr lang="en-US" dirty="0"/>
          </a:p>
          <a:p>
            <a:r>
              <a:rPr dirty="0"/>
              <a:t>We compare MARL against three baselines: Shared, which uses a single global buffer pool; Static, which allocates proportionally to promised sizes; and SAM, a state-of-the-art stability-aware heuristic. </a:t>
            </a:r>
            <a:r>
              <a:rPr dirty="0" err="1"/>
              <a:t>OpenGauss's</a:t>
            </a:r>
            <a:r>
              <a:rPr dirty="0"/>
              <a:t> default </a:t>
            </a:r>
            <a:r>
              <a:rPr dirty="0" err="1"/>
              <a:t>ClockSweep</a:t>
            </a:r>
            <a:r>
              <a:rPr dirty="0"/>
              <a:t> algorithm is used as the buffer replacement scheme. Our metrics include SLA cost, buffer miss ratio, throughput, and average and P99 latency.</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This slide presents our throughput and latency results under different miss cost factors. In real-world cloud database systems, cache misses incur additional network access overhead, making them orders of magnitude slower than local disk accesses. To simulate this, we add a delay to the critical path of cache misses, calculated as the measured local disk latency multiplied by a miss cost factor. </a:t>
            </a:r>
            <a:endParaRPr lang="en-US" dirty="0"/>
          </a:p>
          <a:p>
            <a:endParaRPr lang="en-US" dirty="0"/>
          </a:p>
          <a:p>
            <a:r>
              <a:rPr dirty="0"/>
              <a:t>MARL consistently outperforms all baselines, and importantly, the performance gap widens substantially as the factor increases. At factor 4, MARL improves throughput by 5.1 to 15.4 percent compared to the three baselines, while reducing average latency by 6.4 to 17.3 percent. At factor 8, throughput gains reach 12.2 to 44.1 percent, with average latency reduced by 17.3 to 32.2 percent. At factor 16, MARL achieves remarkable throughput gains of 17.0 to 72.2 percent, and reduces average latency by up to 45.1 percent and P99 latency by up to 37.4 percent</a:t>
            </a:r>
            <a:r>
              <a:rPr lang="en-US" dirty="0"/>
              <a:t>.</a:t>
            </a:r>
            <a:endParaRPr dirty="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Now let us look at miss ratio and SLA cost across varying buffer pool sizes. MARL consistently achieves the lowest miss ratio and SLA cost. Compared to SAM, Static, and Shared, MARL reduces the average miss ratio by 5.8 percent, 11.7 percent, and 9.7 percent, respectively. For SLA cost, the reductions are even more significant: 15.4 percent over SAM, 26.3 percent versus Static, and 20.1 percent versus Shared. </a:t>
            </a:r>
            <a:endParaRPr lang="en-US" dirty="0"/>
          </a:p>
          <a:p>
            <a:endParaRPr lang="en-US" dirty="0"/>
          </a:p>
          <a:p>
            <a:r>
              <a:rPr dirty="0"/>
              <a:t>Why does MARL outperform? Static fails to dynamically redistribute buffer resources among tenants, resulting in significant resource waste when some tenants are idle. Shared suffers from inter-tenant interference due to insufficient isolation for tenants with low buffer utility. SAM adapts dynamically, but its conservative heuristic strategy and lack of a direct SLA-optimization objective prevent it from matching MARL's performance under highly dynamic workloads. MARL avoids all three pitfalls through its SLA-aware multi-agent coordination mechanism.</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To evaluate scalability, we proportionally replicate the 8-tenant workload to 16, 32, and 64 tenants, while scaling the buffer pool size accordingly. </a:t>
            </a:r>
            <a:endParaRPr lang="en-US" dirty="0"/>
          </a:p>
          <a:p>
            <a:endParaRPr lang="en-US" dirty="0"/>
          </a:p>
          <a:p>
            <a:r>
              <a:rPr dirty="0"/>
              <a:t>The results demonstrate strong performance stability. As shown in the figures, miss ratio, throughput, and average latency variations across all scales remain within 3 percent. Per-tenant SLA cost and P99 latency show minor variations of 7 to 8 percent. </a:t>
            </a:r>
            <a:endParaRPr lang="en-US" dirty="0"/>
          </a:p>
          <a:p>
            <a:endParaRPr lang="en-US" dirty="0"/>
          </a:p>
          <a:p>
            <a:r>
              <a:rPr dirty="0"/>
              <a:t>Crucially, MARL maintains a significant and stable advantage over all competitors at every tested scale. This confirms that the multi-agent approach scales effectively without performance degradation as the number of tenants grows, which is essential for practical deployment in large-scale cloud environments.</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A key practical advantage of MARL is its minimal runtime overhead. Pre-training takes 4 hours offline in a Python simulator with 1024 iterations and a batch size of 32, which is a one-time cost. During deployment, RL inference takes only 0.9 milliseconds per 5-second time window per model. Fine-tuning incurs 20.3 milliseconds every 10 time windows, or every 50 seconds. Both inference and fine-tuning operate entirely off the critical path of buffer requests. SLA measurement is similarly lightweight, since it only involves metadata adjustments. Evaluations under 64 concurrent accesses to a single tenant confirm that SLA measurement has no observable impact on system performance. </a:t>
            </a:r>
            <a:endParaRPr lang="en-US" dirty="0"/>
          </a:p>
          <a:p>
            <a:endParaRPr lang="en-US" dirty="0"/>
          </a:p>
          <a:p>
            <a:r>
              <a:rPr dirty="0"/>
              <a:t>All inference tasks are evenly distributed across 4 CPU cores.</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To summarize, this paper makes three key contributions. </a:t>
            </a:r>
            <a:endParaRPr lang="en-US" dirty="0"/>
          </a:p>
          <a:p>
            <a:endParaRPr lang="en-US" dirty="0"/>
          </a:p>
          <a:p>
            <a:r>
              <a:rPr dirty="0"/>
              <a:t>First, we propose MARL, a multi-agent reinforcement learning framework for multi-tenant buffer management, where each tenant is modeled as an independent agent that executes Grow or Shrink actions. </a:t>
            </a:r>
            <a:endParaRPr lang="en-US" dirty="0"/>
          </a:p>
          <a:p>
            <a:endParaRPr lang="en-US" dirty="0"/>
          </a:p>
          <a:p>
            <a:r>
              <a:rPr dirty="0"/>
              <a:t>Second, we design an SLA-aware cost model that translates hit ratio degradation into economic penalties, and build a multi-agent cooperation mechanism on top of it. Agents learn to release buffer space when doing so significantly reduces the global SLA cost without causing unacceptable local performance penalties, leveraging PPO for stable and efficient learning. </a:t>
            </a:r>
            <a:endParaRPr lang="en-US" dirty="0"/>
          </a:p>
          <a:p>
            <a:endParaRPr lang="en-US" dirty="0"/>
          </a:p>
          <a:p>
            <a:r>
              <a:rPr dirty="0"/>
              <a:t>Third, we implement MARL in OpenGauss, a production-ready open-source database engine, with all RL inference and fine-tuning completely off the critical path. Extensive experiments show that MARL achieves up to 26.3 percent SLA cost reduction and 72.2 percent throughput improvement over state-of-the-art methods. </a:t>
            </a:r>
            <a:endParaRPr lang="en-US" dirty="0"/>
          </a:p>
          <a:p>
            <a:endParaRPr lang="en-US" dirty="0"/>
          </a:p>
          <a:p>
            <a:r>
              <a:rPr dirty="0"/>
              <a:t>For future work, we plan to extend optimization to multi-dimensional resource coordination including CPU, I/O, and network bandwidth, explore decentralized agent communication with state embedding exchange, and evaluate broader workload types and cloud deployment scenarios.</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Thank you for your attention</a:t>
            </a:r>
            <a:r>
              <a:rPr lang="en-US" dirty="0"/>
              <a:t>.</a:t>
            </a:r>
            <a:endParaRPr dirty="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5C"/>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599" y="1097280"/>
            <a:ext cx="9981689" cy="1077218"/>
          </a:xfrm>
          <a:prstGeom prst="rect">
            <a:avLst/>
          </a:prstGeom>
          <a:noFill/>
        </p:spPr>
        <p:txBody>
          <a:bodyPr wrap="square">
            <a:spAutoFit/>
          </a:bodyPr>
          <a:lstStyle/>
          <a:p>
            <a:pPr algn="l">
              <a:defRPr sz="3200" b="1">
                <a:solidFill>
                  <a:srgbClr val="FFFFFF"/>
                </a:solidFill>
                <a:latin typeface="Calibri"/>
              </a:defRPr>
            </a:pPr>
            <a:r>
              <a:rPr dirty="0"/>
              <a:t>MARL: A Multi-Agent Reinforcement Learning Framework</a:t>
            </a:r>
            <a:br>
              <a:rPr dirty="0"/>
            </a:br>
            <a:r>
              <a:rPr dirty="0"/>
              <a:t>for Buffer Management in Multi-Tenant Cloud Databases</a:t>
            </a:r>
          </a:p>
        </p:txBody>
      </p:sp>
      <p:sp>
        <p:nvSpPr>
          <p:cNvPr id="4" name="TextBox 3"/>
          <p:cNvSpPr txBox="1"/>
          <p:nvPr/>
        </p:nvSpPr>
        <p:spPr>
          <a:xfrm>
            <a:off x="1371600" y="2926080"/>
            <a:ext cx="9144000" cy="548640"/>
          </a:xfrm>
          <a:prstGeom prst="rect">
            <a:avLst/>
          </a:prstGeom>
          <a:noFill/>
        </p:spPr>
        <p:txBody>
          <a:bodyPr wrap="square">
            <a:spAutoFit/>
          </a:bodyPr>
          <a:lstStyle/>
          <a:p>
            <a:pPr algn="l">
              <a:defRPr sz="2200" b="0">
                <a:solidFill>
                  <a:srgbClr val="D6EBF2"/>
                </a:solidFill>
                <a:latin typeface="Calibri"/>
              </a:defRPr>
            </a:pPr>
            <a:r>
              <a:rPr dirty="0"/>
              <a:t>Xin Huang, Yu-Ang Zhang, </a:t>
            </a:r>
            <a:r>
              <a:rPr dirty="0" err="1"/>
              <a:t>Hongtao</a:t>
            </a:r>
            <a:r>
              <a:rPr dirty="0"/>
              <a:t> Wang, </a:t>
            </a:r>
            <a:r>
              <a:rPr dirty="0" err="1"/>
              <a:t>Peiquan</a:t>
            </a:r>
            <a:r>
              <a:rPr dirty="0"/>
              <a:t> Jin</a:t>
            </a:r>
          </a:p>
        </p:txBody>
      </p:sp>
      <p:sp>
        <p:nvSpPr>
          <p:cNvPr id="5" name="TextBox 4"/>
          <p:cNvSpPr txBox="1"/>
          <p:nvPr/>
        </p:nvSpPr>
        <p:spPr>
          <a:xfrm>
            <a:off x="1371600" y="3566160"/>
            <a:ext cx="9144000" cy="457200"/>
          </a:xfrm>
          <a:prstGeom prst="rect">
            <a:avLst/>
          </a:prstGeom>
          <a:noFill/>
        </p:spPr>
        <p:txBody>
          <a:bodyPr wrap="square">
            <a:spAutoFit/>
          </a:bodyPr>
          <a:lstStyle/>
          <a:p>
            <a:pPr algn="l">
              <a:defRPr sz="1800" b="0">
                <a:solidFill>
                  <a:srgbClr val="D6EBF2"/>
                </a:solidFill>
                <a:latin typeface="Calibri"/>
              </a:defRPr>
            </a:pPr>
            <a:r>
              <a:t>University of Science and Technology of China (USTC)</a:t>
            </a:r>
          </a:p>
        </p:txBody>
      </p:sp>
      <p:sp>
        <p:nvSpPr>
          <p:cNvPr id="6" name="TextBox 5"/>
          <p:cNvSpPr txBox="1"/>
          <p:nvPr/>
        </p:nvSpPr>
        <p:spPr>
          <a:xfrm>
            <a:off x="1371600" y="4206240"/>
            <a:ext cx="9144000" cy="400110"/>
          </a:xfrm>
          <a:prstGeom prst="rect">
            <a:avLst/>
          </a:prstGeom>
          <a:noFill/>
        </p:spPr>
        <p:txBody>
          <a:bodyPr wrap="square">
            <a:spAutoFit/>
          </a:bodyPr>
          <a:lstStyle/>
          <a:p>
            <a:pPr algn="l">
              <a:defRPr sz="2000" b="1">
                <a:solidFill>
                  <a:srgbClr val="E67E22"/>
                </a:solidFill>
                <a:latin typeface="Calibri"/>
              </a:defRPr>
            </a:pPr>
            <a:r>
              <a:rPr dirty="0"/>
              <a:t>IEEE ICDCS 2026 — Industrial </a:t>
            </a:r>
            <a:r>
              <a:rPr lang="en-US" dirty="0"/>
              <a:t>Event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90FB-481C-0B47-F5DE-62887819CB9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E98FFCD-8E6B-99F3-D35E-AC048977D212}"/>
              </a:ext>
            </a:extLst>
          </p:cNvPr>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939835A-909B-0503-B233-C47D7C398686}"/>
              </a:ext>
            </a:extLst>
          </p:cNvPr>
          <p:cNvSpPr txBox="1"/>
          <p:nvPr/>
        </p:nvSpPr>
        <p:spPr>
          <a:xfrm>
            <a:off x="731520" y="137160"/>
            <a:ext cx="10058400" cy="584775"/>
          </a:xfrm>
          <a:prstGeom prst="rect">
            <a:avLst/>
          </a:prstGeom>
          <a:noFill/>
        </p:spPr>
        <p:txBody>
          <a:bodyPr wrap="square">
            <a:spAutoFit/>
          </a:bodyPr>
          <a:lstStyle/>
          <a:p>
            <a:pPr algn="l">
              <a:defRPr sz="3200" b="1">
                <a:solidFill>
                  <a:srgbClr val="FFFFFF"/>
                </a:solidFill>
                <a:latin typeface="Calibri"/>
              </a:defRPr>
            </a:pPr>
            <a:r>
              <a:rPr dirty="0"/>
              <a:t>Background</a:t>
            </a:r>
          </a:p>
        </p:txBody>
      </p:sp>
      <p:sp>
        <p:nvSpPr>
          <p:cNvPr id="4" name="TextBox 3">
            <a:extLst>
              <a:ext uri="{FF2B5EF4-FFF2-40B4-BE49-F238E27FC236}">
                <a16:creationId xmlns:a16="http://schemas.microsoft.com/office/drawing/2014/main" id="{B08916EF-199D-D0E5-FE36-421E82118230}"/>
              </a:ext>
            </a:extLst>
          </p:cNvPr>
          <p:cNvSpPr txBox="1"/>
          <p:nvPr/>
        </p:nvSpPr>
        <p:spPr>
          <a:xfrm>
            <a:off x="601418" y="1661262"/>
            <a:ext cx="5019994" cy="2585323"/>
          </a:xfrm>
          <a:prstGeom prst="rect">
            <a:avLst/>
          </a:prstGeom>
          <a:noFill/>
        </p:spPr>
        <p:txBody>
          <a:bodyPr wrap="square">
            <a:spAutoFit/>
          </a:bodyPr>
          <a:lstStyle/>
          <a:p>
            <a:pPr marL="285750" indent="-285750" algn="just">
              <a:buFont typeface="Wingdings" panose="05000000000000000000" pitchFamily="2" charset="2"/>
              <a:buChar char="Ø"/>
            </a:pPr>
            <a:r>
              <a:rPr lang="zh-CN" altLang="zh-CN" dirty="0"/>
              <a:t>Database-as-a-Service (DBaaS) has become a foundational enterprise infrastructure.</a:t>
            </a:r>
            <a:endParaRPr lang="en-US" altLang="zh-CN" dirty="0"/>
          </a:p>
          <a:p>
            <a:pPr marL="285750" indent="-285750" algn="just">
              <a:buFont typeface="Wingdings" panose="05000000000000000000" pitchFamily="2" charset="2"/>
              <a:buChar char="Ø"/>
            </a:pPr>
            <a:endParaRPr lang="zh-CN" altLang="zh-CN" dirty="0"/>
          </a:p>
          <a:p>
            <a:pPr marL="285750" indent="-285750" algn="just">
              <a:buFont typeface="Wingdings" panose="05000000000000000000" pitchFamily="2" charset="2"/>
              <a:buChar char="Ø"/>
            </a:pPr>
            <a:r>
              <a:rPr lang="zh-CN" altLang="zh-CN" dirty="0"/>
              <a:t>Modern DBaaS </a:t>
            </a:r>
            <a:r>
              <a:rPr lang="en-US" altLang="zh-CN" dirty="0"/>
              <a:t>rely heavily on </a:t>
            </a:r>
            <a:r>
              <a:rPr lang="zh-CN" altLang="zh-CN" dirty="0"/>
              <a:t>multi-tenancy to maximize physical hardware utilization.</a:t>
            </a:r>
          </a:p>
          <a:p>
            <a:pPr marL="285750" indent="-285750" algn="just">
              <a:buFont typeface="Wingdings" panose="05000000000000000000" pitchFamily="2" charset="2"/>
              <a:buChar char="Ø"/>
            </a:pPr>
            <a:endParaRPr lang="en-US" altLang="zh-CN" dirty="0"/>
          </a:p>
          <a:p>
            <a:pPr marL="285750" indent="-285750" algn="just">
              <a:buFont typeface="Wingdings" panose="05000000000000000000" pitchFamily="2" charset="2"/>
              <a:buChar char="Ø"/>
            </a:pPr>
            <a:r>
              <a:rPr lang="zh-CN" altLang="zh-CN" dirty="0"/>
              <a:t>Providers face a critical trade-off: satisfying tenants'</a:t>
            </a:r>
            <a:r>
              <a:rPr lang="en-US" altLang="zh-CN" dirty="0"/>
              <a:t> strict Service Level Agreements (SLAs) </a:t>
            </a:r>
            <a:r>
              <a:rPr lang="zh-CN" altLang="zh-CN" dirty="0"/>
              <a:t>while minimizing operational overhead.</a:t>
            </a:r>
          </a:p>
        </p:txBody>
      </p:sp>
      <p:pic>
        <p:nvPicPr>
          <p:cNvPr id="5" name="图片 4">
            <a:extLst>
              <a:ext uri="{FF2B5EF4-FFF2-40B4-BE49-F238E27FC236}">
                <a16:creationId xmlns:a16="http://schemas.microsoft.com/office/drawing/2014/main" id="{C4C8DD9C-5FC0-4231-A50D-184A89CFE39C}"/>
              </a:ext>
            </a:extLst>
          </p:cNvPr>
          <p:cNvPicPr>
            <a:picLocks noChangeAspect="1"/>
          </p:cNvPicPr>
          <p:nvPr/>
        </p:nvPicPr>
        <p:blipFill>
          <a:blip r:embed="rId3"/>
          <a:stretch>
            <a:fillRect/>
          </a:stretch>
        </p:blipFill>
        <p:spPr>
          <a:xfrm>
            <a:off x="7163888" y="1270828"/>
            <a:ext cx="4003310" cy="3068583"/>
          </a:xfrm>
          <a:prstGeom prst="rect">
            <a:avLst/>
          </a:prstGeom>
        </p:spPr>
      </p:pic>
      <p:pic>
        <p:nvPicPr>
          <p:cNvPr id="7" name="图片 6">
            <a:extLst>
              <a:ext uri="{FF2B5EF4-FFF2-40B4-BE49-F238E27FC236}">
                <a16:creationId xmlns:a16="http://schemas.microsoft.com/office/drawing/2014/main" id="{7FD7F53F-563B-B70D-A3B8-11B0B8B140A4}"/>
              </a:ext>
            </a:extLst>
          </p:cNvPr>
          <p:cNvPicPr>
            <a:picLocks noChangeAspect="1"/>
          </p:cNvPicPr>
          <p:nvPr/>
        </p:nvPicPr>
        <p:blipFill>
          <a:blip r:embed="rId4"/>
          <a:stretch>
            <a:fillRect/>
          </a:stretch>
        </p:blipFill>
        <p:spPr>
          <a:xfrm>
            <a:off x="6592550" y="5529528"/>
            <a:ext cx="2147287" cy="622713"/>
          </a:xfrm>
          <a:prstGeom prst="rect">
            <a:avLst/>
          </a:prstGeom>
        </p:spPr>
      </p:pic>
      <p:pic>
        <p:nvPicPr>
          <p:cNvPr id="9" name="图片 8">
            <a:extLst>
              <a:ext uri="{FF2B5EF4-FFF2-40B4-BE49-F238E27FC236}">
                <a16:creationId xmlns:a16="http://schemas.microsoft.com/office/drawing/2014/main" id="{B0D17874-8E0E-B0BB-BF67-2D41F113E246}"/>
              </a:ext>
            </a:extLst>
          </p:cNvPr>
          <p:cNvPicPr>
            <a:picLocks noChangeAspect="1"/>
          </p:cNvPicPr>
          <p:nvPr/>
        </p:nvPicPr>
        <p:blipFill>
          <a:blip r:embed="rId5"/>
          <a:stretch>
            <a:fillRect/>
          </a:stretch>
        </p:blipFill>
        <p:spPr>
          <a:xfrm>
            <a:off x="9955918" y="4937292"/>
            <a:ext cx="1037855" cy="622713"/>
          </a:xfrm>
          <a:prstGeom prst="rect">
            <a:avLst/>
          </a:prstGeom>
        </p:spPr>
      </p:pic>
      <p:pic>
        <p:nvPicPr>
          <p:cNvPr id="11" name="图片 10">
            <a:extLst>
              <a:ext uri="{FF2B5EF4-FFF2-40B4-BE49-F238E27FC236}">
                <a16:creationId xmlns:a16="http://schemas.microsoft.com/office/drawing/2014/main" id="{604CE7A1-8906-A428-DA54-8BA28F796B3E}"/>
              </a:ext>
            </a:extLst>
          </p:cNvPr>
          <p:cNvPicPr>
            <a:picLocks noChangeAspect="1"/>
          </p:cNvPicPr>
          <p:nvPr/>
        </p:nvPicPr>
        <p:blipFill>
          <a:blip r:embed="rId6"/>
          <a:stretch>
            <a:fillRect/>
          </a:stretch>
        </p:blipFill>
        <p:spPr>
          <a:xfrm>
            <a:off x="9174886" y="5715188"/>
            <a:ext cx="2809444" cy="440146"/>
          </a:xfrm>
          <a:prstGeom prst="rect">
            <a:avLst/>
          </a:prstGeom>
        </p:spPr>
      </p:pic>
      <p:pic>
        <p:nvPicPr>
          <p:cNvPr id="15" name="图片 14">
            <a:extLst>
              <a:ext uri="{FF2B5EF4-FFF2-40B4-BE49-F238E27FC236}">
                <a16:creationId xmlns:a16="http://schemas.microsoft.com/office/drawing/2014/main" id="{39091E14-CA4C-DAF3-1F23-9E5762A97DE6}"/>
              </a:ext>
            </a:extLst>
          </p:cNvPr>
          <p:cNvPicPr>
            <a:picLocks noChangeAspect="1"/>
          </p:cNvPicPr>
          <p:nvPr/>
        </p:nvPicPr>
        <p:blipFill>
          <a:blip r:embed="rId7"/>
          <a:stretch>
            <a:fillRect/>
          </a:stretch>
        </p:blipFill>
        <p:spPr>
          <a:xfrm>
            <a:off x="6592550" y="4928599"/>
            <a:ext cx="2461921" cy="320050"/>
          </a:xfrm>
          <a:prstGeom prst="rect">
            <a:avLst/>
          </a:prstGeom>
        </p:spPr>
      </p:pic>
    </p:spTree>
    <p:extLst>
      <p:ext uri="{BB962C8B-B14F-4D97-AF65-F5344CB8AC3E}">
        <p14:creationId xmlns:p14="http://schemas.microsoft.com/office/powerpoint/2010/main" val="110259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584775"/>
          </a:xfrm>
          <a:prstGeom prst="rect">
            <a:avLst/>
          </a:prstGeom>
          <a:noFill/>
        </p:spPr>
        <p:txBody>
          <a:bodyPr wrap="square">
            <a:spAutoFit/>
          </a:bodyPr>
          <a:lstStyle/>
          <a:p>
            <a:pPr algn="l">
              <a:defRPr sz="3200" b="1">
                <a:solidFill>
                  <a:srgbClr val="FFFFFF"/>
                </a:solidFill>
                <a:latin typeface="Calibri"/>
              </a:defRPr>
            </a:pPr>
            <a:r>
              <a:rPr dirty="0"/>
              <a:t>Background</a:t>
            </a:r>
          </a:p>
        </p:txBody>
      </p:sp>
      <p:sp>
        <p:nvSpPr>
          <p:cNvPr id="6" name="文本框 5">
            <a:extLst>
              <a:ext uri="{FF2B5EF4-FFF2-40B4-BE49-F238E27FC236}">
                <a16:creationId xmlns:a16="http://schemas.microsoft.com/office/drawing/2014/main" id="{A49D5BA1-6562-8CBE-525C-FDE2D45F20C3}"/>
              </a:ext>
            </a:extLst>
          </p:cNvPr>
          <p:cNvSpPr txBox="1"/>
          <p:nvPr/>
        </p:nvSpPr>
        <p:spPr>
          <a:xfrm>
            <a:off x="302245" y="1443841"/>
            <a:ext cx="5141198" cy="3416320"/>
          </a:xfrm>
          <a:prstGeom prst="rect">
            <a:avLst/>
          </a:prstGeom>
          <a:noFill/>
        </p:spPr>
        <p:txBody>
          <a:bodyPr wrap="square">
            <a:spAutoFit/>
          </a:bodyPr>
          <a:lstStyle/>
          <a:p>
            <a:pPr marL="342900" indent="-342900" algn="just">
              <a:buFont typeface="Wingdings" panose="05000000000000000000" pitchFamily="2" charset="2"/>
              <a:buChar char="Ø"/>
            </a:pPr>
            <a:r>
              <a:rPr lang="zh-CN" altLang="zh-CN" dirty="0"/>
              <a:t>The buffer pool is a critical database component that caches frequently used pages, </a:t>
            </a:r>
            <a:r>
              <a:rPr lang="zh-CN" altLang="zh-CN" b="1" dirty="0"/>
              <a:t>directly dictating transaction efficiency.</a:t>
            </a:r>
            <a:endParaRPr lang="en-US" altLang="zh-CN" b="1" dirty="0"/>
          </a:p>
          <a:p>
            <a:pPr marL="342900" indent="-342900" algn="just">
              <a:buFont typeface="Wingdings" panose="05000000000000000000" pitchFamily="2" charset="2"/>
              <a:buChar char="Ø"/>
            </a:pPr>
            <a:endParaRPr lang="zh-CN" altLang="zh-CN" dirty="0"/>
          </a:p>
          <a:p>
            <a:pPr marL="342900" indent="-342900" algn="just">
              <a:buFont typeface="Wingdings" panose="05000000000000000000" pitchFamily="2" charset="2"/>
              <a:buChar char="Ø"/>
            </a:pPr>
            <a:r>
              <a:rPr lang="zh-CN" altLang="zh-CN" dirty="0"/>
              <a:t>In cloud-native DBaaS architectures, </a:t>
            </a:r>
            <a:r>
              <a:rPr lang="en-US" altLang="zh-CN" dirty="0"/>
              <a:t>buffer</a:t>
            </a:r>
            <a:r>
              <a:rPr lang="zh-CN" altLang="zh-CN" dirty="0"/>
              <a:t> misses trigger remote storage calls over the network, introducing massive </a:t>
            </a:r>
            <a:r>
              <a:rPr lang="zh-CN" altLang="zh-CN" b="1" dirty="0"/>
              <a:t>high-latency overhead</a:t>
            </a:r>
            <a:r>
              <a:rPr lang="zh-CN" altLang="zh-CN" dirty="0"/>
              <a:t>.</a:t>
            </a:r>
          </a:p>
          <a:p>
            <a:pPr marL="342900" indent="-342900" algn="just">
              <a:buFont typeface="Wingdings" panose="05000000000000000000" pitchFamily="2" charset="2"/>
              <a:buChar char="Ø"/>
            </a:pPr>
            <a:endParaRPr lang="en-US" altLang="zh-CN" b="1" dirty="0"/>
          </a:p>
          <a:p>
            <a:pPr marL="342900" indent="-342900" algn="just">
              <a:buFont typeface="Wingdings" panose="05000000000000000000" pitchFamily="2" charset="2"/>
              <a:buChar char="Ø"/>
            </a:pPr>
            <a:r>
              <a:rPr lang="zh-CN" altLang="zh-CN" b="1" dirty="0">
                <a:solidFill>
                  <a:srgbClr val="FF0000"/>
                </a:solidFill>
              </a:rPr>
              <a:t>Challenge:</a:t>
            </a:r>
            <a:r>
              <a:rPr lang="zh-CN" altLang="zh-CN" dirty="0">
                <a:solidFill>
                  <a:srgbClr val="FF0000"/>
                </a:solidFill>
              </a:rPr>
              <a:t> How can we dynamically manage a shared buffer pool among unpredictable, volatile multi-tenant workloads to </a:t>
            </a:r>
            <a:r>
              <a:rPr lang="en-US" altLang="zh-CN" dirty="0">
                <a:solidFill>
                  <a:srgbClr val="FF0000"/>
                </a:solidFill>
              </a:rPr>
              <a:t>satisfy tenants’ SLA</a:t>
            </a:r>
            <a:r>
              <a:rPr lang="zh-CN" altLang="zh-CN" dirty="0">
                <a:solidFill>
                  <a:srgbClr val="FF0000"/>
                </a:solidFill>
              </a:rPr>
              <a:t>?</a:t>
            </a:r>
          </a:p>
        </p:txBody>
      </p:sp>
      <p:pic>
        <p:nvPicPr>
          <p:cNvPr id="7" name="Picture 2">
            <a:extLst>
              <a:ext uri="{FF2B5EF4-FFF2-40B4-BE49-F238E27FC236}">
                <a16:creationId xmlns:a16="http://schemas.microsoft.com/office/drawing/2014/main" id="{C2691947-E337-7B4F-0378-C8CD4E2127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11086" y="1051560"/>
            <a:ext cx="2578834" cy="2709281"/>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a:extLst>
              <a:ext uri="{FF2B5EF4-FFF2-40B4-BE49-F238E27FC236}">
                <a16:creationId xmlns:a16="http://schemas.microsoft.com/office/drawing/2014/main" id="{D47395D5-BFC5-AB3C-8773-16C5F646A62B}"/>
              </a:ext>
            </a:extLst>
          </p:cNvPr>
          <p:cNvPicPr>
            <a:picLocks noChangeAspect="1"/>
          </p:cNvPicPr>
          <p:nvPr/>
        </p:nvPicPr>
        <p:blipFill>
          <a:blip r:embed="rId4"/>
          <a:stretch>
            <a:fillRect/>
          </a:stretch>
        </p:blipFill>
        <p:spPr>
          <a:xfrm>
            <a:off x="7514571" y="3613390"/>
            <a:ext cx="3971865" cy="2582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1077218"/>
          </a:xfrm>
          <a:prstGeom prst="rect">
            <a:avLst/>
          </a:prstGeom>
          <a:noFill/>
        </p:spPr>
        <p:txBody>
          <a:bodyPr wrap="square">
            <a:spAutoFit/>
          </a:bodyPr>
          <a:lstStyle/>
          <a:p>
            <a:pPr algn="l">
              <a:defRPr sz="3200" b="1">
                <a:solidFill>
                  <a:srgbClr val="FFFFFF"/>
                </a:solidFill>
                <a:latin typeface="Calibri"/>
              </a:defRPr>
            </a:pPr>
            <a:r>
              <a:rPr lang="en-US" dirty="0"/>
              <a:t>Limitations of Existing Approaches</a:t>
            </a:r>
          </a:p>
          <a:p>
            <a:pPr algn="l">
              <a:defRPr sz="3200" b="1">
                <a:solidFill>
                  <a:srgbClr val="FFFFFF"/>
                </a:solidFill>
                <a:latin typeface="Calibri"/>
              </a:defRPr>
            </a:pPr>
            <a:endParaRPr dirty="0"/>
          </a:p>
        </p:txBody>
      </p:sp>
      <p:sp>
        <p:nvSpPr>
          <p:cNvPr id="75" name="文本框 74">
            <a:extLst>
              <a:ext uri="{FF2B5EF4-FFF2-40B4-BE49-F238E27FC236}">
                <a16:creationId xmlns:a16="http://schemas.microsoft.com/office/drawing/2014/main" id="{DAF6CD68-F4BF-A8D9-0556-0CF1EBD12D85}"/>
              </a:ext>
            </a:extLst>
          </p:cNvPr>
          <p:cNvSpPr txBox="1"/>
          <p:nvPr/>
        </p:nvSpPr>
        <p:spPr>
          <a:xfrm>
            <a:off x="731520" y="1351538"/>
            <a:ext cx="9940264" cy="3693319"/>
          </a:xfrm>
          <a:prstGeom prst="rect">
            <a:avLst/>
          </a:prstGeom>
          <a:noFill/>
        </p:spPr>
        <p:txBody>
          <a:bodyPr wrap="square">
            <a:spAutoFit/>
          </a:bodyPr>
          <a:lstStyle/>
          <a:p>
            <a:pPr marL="285750" indent="-285750">
              <a:buFont typeface="Wingdings" panose="05000000000000000000" pitchFamily="2" charset="2"/>
              <a:buChar char="Ø"/>
            </a:pPr>
            <a:r>
              <a:rPr lang="zh-CN" altLang="zh-CN" b="1" dirty="0"/>
              <a:t>Traditional &amp; ML-Based Replacement (LRU, ARC, LeCaR, LRB)</a:t>
            </a:r>
            <a:endParaRPr lang="zh-CN" altLang="zh-CN" dirty="0"/>
          </a:p>
          <a:p>
            <a:pPr marL="742950" lvl="1" indent="-285750">
              <a:buFont typeface="Wingdings" panose="05000000000000000000" pitchFamily="2" charset="2"/>
              <a:buChar char="Ø"/>
            </a:pPr>
            <a:r>
              <a:rPr lang="zh-CN" altLang="zh-CN" dirty="0"/>
              <a:t>No tenant-level </a:t>
            </a:r>
            <a:r>
              <a:rPr lang="en-US" altLang="zh-CN" dirty="0"/>
              <a:t>buffer</a:t>
            </a:r>
            <a:r>
              <a:rPr lang="zh-CN" altLang="zh-CN" dirty="0"/>
              <a:t> isolation.</a:t>
            </a:r>
          </a:p>
          <a:p>
            <a:pPr marL="742950" lvl="1" indent="-285750">
              <a:buFont typeface="Wingdings" panose="05000000000000000000" pitchFamily="2" charset="2"/>
              <a:buChar char="Ø"/>
            </a:pPr>
            <a:r>
              <a:rPr lang="zh-CN" altLang="zh-CN" dirty="0">
                <a:solidFill>
                  <a:srgbClr val="FF0000"/>
                </a:solidFill>
              </a:rPr>
              <a:t>Severe noisy-neighbor interference under co-located workloads</a:t>
            </a:r>
            <a:r>
              <a:rPr lang="zh-CN" altLang="zh-CN" dirty="0"/>
              <a:t>.</a:t>
            </a:r>
          </a:p>
          <a:p>
            <a:pPr marL="285750" indent="-285750">
              <a:buFont typeface="Wingdings" panose="05000000000000000000" pitchFamily="2" charset="2"/>
              <a:buChar char="Ø"/>
            </a:pPr>
            <a:endParaRPr lang="en-US" altLang="zh-CN" b="1" dirty="0"/>
          </a:p>
          <a:p>
            <a:pPr marL="285750" indent="-285750">
              <a:buFont typeface="Wingdings" panose="05000000000000000000" pitchFamily="2" charset="2"/>
              <a:buChar char="Ø"/>
            </a:pPr>
            <a:endParaRPr lang="en-US" altLang="zh-CN" b="1" dirty="0"/>
          </a:p>
          <a:p>
            <a:pPr marL="285750" indent="-285750">
              <a:buFont typeface="Wingdings" panose="05000000000000000000" pitchFamily="2" charset="2"/>
              <a:buChar char="Ø"/>
            </a:pPr>
            <a:r>
              <a:rPr lang="zh-CN" altLang="zh-CN" b="1" dirty="0"/>
              <a:t>Static Partitioning Mechanisms</a:t>
            </a:r>
            <a:endParaRPr lang="zh-CN" altLang="zh-CN" dirty="0"/>
          </a:p>
          <a:p>
            <a:pPr marL="742950" lvl="1" indent="-285750">
              <a:buFont typeface="Wingdings" panose="05000000000000000000" pitchFamily="2" charset="2"/>
              <a:buChar char="Ø"/>
            </a:pPr>
            <a:r>
              <a:rPr lang="en-US" altLang="zh-CN" dirty="0"/>
              <a:t>I</a:t>
            </a:r>
            <a:r>
              <a:rPr lang="zh-CN" altLang="zh-CN" dirty="0"/>
              <a:t>solation by pre-defined sizes or priorities.</a:t>
            </a:r>
          </a:p>
          <a:p>
            <a:pPr marL="742950" lvl="1" indent="-285750">
              <a:buFont typeface="Wingdings" panose="05000000000000000000" pitchFamily="2" charset="2"/>
              <a:buChar char="Ø"/>
            </a:pPr>
            <a:r>
              <a:rPr lang="zh-CN" altLang="zh-CN" dirty="0">
                <a:solidFill>
                  <a:srgbClr val="FF0000"/>
                </a:solidFill>
              </a:rPr>
              <a:t>No runtime agility; significant resource waste.</a:t>
            </a:r>
          </a:p>
          <a:p>
            <a:pPr marL="285750" indent="-285750">
              <a:buFont typeface="Wingdings" panose="05000000000000000000" pitchFamily="2" charset="2"/>
              <a:buChar char="Ø"/>
            </a:pPr>
            <a:endParaRPr lang="en-US" altLang="zh-CN" b="1" dirty="0"/>
          </a:p>
          <a:p>
            <a:pPr marL="285750" indent="-285750">
              <a:buFont typeface="Wingdings" panose="05000000000000000000" pitchFamily="2" charset="2"/>
              <a:buChar char="Ø"/>
            </a:pPr>
            <a:endParaRPr lang="en-US" altLang="zh-CN" b="1" dirty="0"/>
          </a:p>
          <a:p>
            <a:pPr marL="285750" indent="-285750">
              <a:buFont typeface="Wingdings" panose="05000000000000000000" pitchFamily="2" charset="2"/>
              <a:buChar char="Ø"/>
            </a:pPr>
            <a:r>
              <a:rPr lang="zh-CN" altLang="zh-CN" b="1" dirty="0"/>
              <a:t>Heuristic Approaches (SAM)</a:t>
            </a:r>
            <a:endParaRPr lang="zh-CN" altLang="zh-CN" dirty="0"/>
          </a:p>
          <a:p>
            <a:pPr marL="742950" lvl="1" indent="-285750">
              <a:buFont typeface="Wingdings" panose="05000000000000000000" pitchFamily="2" charset="2"/>
              <a:buChar char="Ø"/>
            </a:pPr>
            <a:r>
              <a:rPr lang="zh-CN" altLang="zh-CN" dirty="0"/>
              <a:t>Rely on hand-crafted </a:t>
            </a:r>
            <a:r>
              <a:rPr lang="en-US" altLang="zh-CN" b="1" dirty="0"/>
              <a:t>h</a:t>
            </a:r>
            <a:r>
              <a:rPr lang="zh-CN" altLang="zh-CN" b="1" dirty="0"/>
              <a:t>euristic-</a:t>
            </a:r>
            <a:r>
              <a:rPr lang="en-US" altLang="zh-CN" b="1" dirty="0"/>
              <a:t>b</a:t>
            </a:r>
            <a:r>
              <a:rPr lang="zh-CN" altLang="zh-CN" b="1" dirty="0"/>
              <a:t>ased </a:t>
            </a:r>
            <a:r>
              <a:rPr lang="zh-CN" altLang="zh-CN" dirty="0"/>
              <a:t>rules.</a:t>
            </a:r>
          </a:p>
          <a:p>
            <a:pPr marL="742950" lvl="1" indent="-285750">
              <a:buFont typeface="Wingdings" panose="05000000000000000000" pitchFamily="2" charset="2"/>
              <a:buChar char="Ø"/>
            </a:pPr>
            <a:r>
              <a:rPr lang="zh-CN" altLang="zh-CN" dirty="0">
                <a:solidFill>
                  <a:srgbClr val="FF0000"/>
                </a:solidFill>
              </a:rPr>
              <a:t>Frequently converge to sub-optimal configurations</a:t>
            </a:r>
            <a:r>
              <a:rPr lang="en-US" altLang="zh-CN" dirty="0">
                <a:solidFill>
                  <a:srgbClr val="FF0000"/>
                </a:solidFill>
              </a:rPr>
              <a:t>.</a:t>
            </a:r>
          </a:p>
        </p:txBody>
      </p:sp>
      <p:sp>
        <p:nvSpPr>
          <p:cNvPr id="5" name="Rectangle 27">
            <a:extLst>
              <a:ext uri="{FF2B5EF4-FFF2-40B4-BE49-F238E27FC236}">
                <a16:creationId xmlns:a16="http://schemas.microsoft.com/office/drawing/2014/main" id="{E005A19C-1A28-C790-BFAE-7F0A691414D0}"/>
              </a:ext>
            </a:extLst>
          </p:cNvPr>
          <p:cNvSpPr/>
          <p:nvPr/>
        </p:nvSpPr>
        <p:spPr>
          <a:xfrm>
            <a:off x="1425790" y="5518003"/>
            <a:ext cx="9340420" cy="914400"/>
          </a:xfrm>
          <a:prstGeom prst="rect">
            <a:avLst/>
          </a:prstGeom>
          <a:solidFill>
            <a:srgbClr val="F2F6FB"/>
          </a:solidFill>
          <a:ln w="6350">
            <a:solidFill>
              <a:srgbClr val="D5DDE8"/>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200"/>
              </a:spcAft>
              <a:defRPr sz="1200">
                <a:solidFill>
                  <a:srgbClr val="2C3E50"/>
                </a:solidFill>
                <a:latin typeface="Calibri"/>
              </a:defRPr>
            </a:pPr>
            <a:endParaRPr lang="en-US" altLang="zh-CN" sz="1600" dirty="0"/>
          </a:p>
          <a:p>
            <a:pPr algn="ctr"/>
            <a:r>
              <a:rPr lang="en-US" altLang="zh-CN" sz="2400" dirty="0">
                <a:solidFill>
                  <a:schemeClr val="tx1"/>
                </a:solidFill>
              </a:rPr>
              <a:t>Our Approach (MARL): </a:t>
            </a:r>
            <a:r>
              <a:rPr lang="en-US" altLang="zh-CN" sz="2400" b="1" dirty="0">
                <a:solidFill>
                  <a:srgbClr val="FF0000"/>
                </a:solidFill>
              </a:rPr>
              <a:t>SLA-Aware </a:t>
            </a:r>
            <a:r>
              <a:rPr lang="en-US" altLang="zh-CN" sz="2400" dirty="0">
                <a:solidFill>
                  <a:schemeClr val="tx1"/>
                </a:solidFill>
              </a:rPr>
              <a:t>&amp;</a:t>
            </a:r>
            <a:r>
              <a:rPr lang="en-US" altLang="zh-CN" sz="2400" dirty="0">
                <a:solidFill>
                  <a:srgbClr val="FF0000"/>
                </a:solidFill>
              </a:rPr>
              <a:t> </a:t>
            </a:r>
            <a:r>
              <a:rPr lang="en-US" altLang="zh-CN" sz="2400" b="1" dirty="0">
                <a:solidFill>
                  <a:srgbClr val="FF0000"/>
                </a:solidFill>
              </a:rPr>
              <a:t>Learning-Based Adjustment </a:t>
            </a:r>
          </a:p>
          <a:p>
            <a:pPr algn="ctr"/>
            <a:endParaRPr dirty="0"/>
          </a:p>
        </p:txBody>
      </p:sp>
      <p:sp>
        <p:nvSpPr>
          <p:cNvPr id="7" name="Rectangle 27">
            <a:extLst>
              <a:ext uri="{FF2B5EF4-FFF2-40B4-BE49-F238E27FC236}">
                <a16:creationId xmlns:a16="http://schemas.microsoft.com/office/drawing/2014/main" id="{97E58E24-C5A3-F5B9-0421-6D9E164B02F0}"/>
              </a:ext>
            </a:extLst>
          </p:cNvPr>
          <p:cNvSpPr/>
          <p:nvPr/>
        </p:nvSpPr>
        <p:spPr>
          <a:xfrm>
            <a:off x="8460120" y="2629371"/>
            <a:ext cx="3534656" cy="1137652"/>
          </a:xfrm>
          <a:prstGeom prst="rect">
            <a:avLst/>
          </a:prstGeom>
          <a:solidFill>
            <a:srgbClr val="F2F6FB"/>
          </a:solidFill>
          <a:ln w="6350">
            <a:solidFill>
              <a:srgbClr val="D5DDE8"/>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spcAft>
                <a:spcPts val="200"/>
              </a:spcAft>
              <a:buFont typeface="Arial" panose="020B0604020202020204" pitchFamily="34" charset="0"/>
              <a:buChar char="•"/>
              <a:defRPr sz="1200">
                <a:solidFill>
                  <a:srgbClr val="2C3E50"/>
                </a:solidFill>
                <a:latin typeface="Calibri"/>
              </a:defRPr>
            </a:pPr>
            <a:endParaRPr lang="en-US" altLang="zh-CN" sz="1600" dirty="0"/>
          </a:p>
          <a:p>
            <a:pPr marL="342900" indent="-342900">
              <a:buFont typeface="Wingdings" panose="05000000000000000000" pitchFamily="2" charset="2"/>
              <a:buChar char="Ø"/>
            </a:pPr>
            <a:r>
              <a:rPr lang="en-US" altLang="zh-CN" sz="2000" dirty="0">
                <a:solidFill>
                  <a:schemeClr val="tx1"/>
                </a:solidFill>
              </a:rPr>
              <a:t>Lack of SLA Consideration</a:t>
            </a:r>
          </a:p>
          <a:p>
            <a:pPr marL="342900" indent="-342900">
              <a:buFont typeface="Wingdings" panose="05000000000000000000" pitchFamily="2" charset="2"/>
              <a:buChar char="Ø"/>
            </a:pPr>
            <a:r>
              <a:rPr lang="en-US" altLang="zh-CN" sz="2000" dirty="0">
                <a:solidFill>
                  <a:schemeClr val="tx1"/>
                </a:solidFill>
              </a:rPr>
              <a:t>Human Heuristic-Based</a:t>
            </a:r>
            <a:endParaRPr lang="en-US" altLang="zh-CN" sz="2000" dirty="0">
              <a:solidFill>
                <a:srgbClr val="FF0000"/>
              </a:solidFill>
            </a:endParaRPr>
          </a:p>
          <a:p>
            <a:pPr algn="ctr"/>
            <a:endParaRPr dirty="0"/>
          </a:p>
        </p:txBody>
      </p:sp>
      <p:sp>
        <p:nvSpPr>
          <p:cNvPr id="8" name="右大括号 7">
            <a:extLst>
              <a:ext uri="{FF2B5EF4-FFF2-40B4-BE49-F238E27FC236}">
                <a16:creationId xmlns:a16="http://schemas.microsoft.com/office/drawing/2014/main" id="{BBB2A9D1-FF86-861D-B0CB-D2C8B89569B4}"/>
              </a:ext>
            </a:extLst>
          </p:cNvPr>
          <p:cNvSpPr/>
          <p:nvPr/>
        </p:nvSpPr>
        <p:spPr>
          <a:xfrm>
            <a:off x="7561089" y="1598279"/>
            <a:ext cx="899031" cy="316582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defRPr sz="3200" b="1">
                <a:solidFill>
                  <a:srgbClr val="FFFFFF"/>
                </a:solidFill>
                <a:latin typeface="Calibri"/>
              </a:defRPr>
            </a:pPr>
            <a:r>
              <a:rPr dirty="0"/>
              <a:t>SLA-Aware Cost Model</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33595C5-EBFD-B63B-C6B8-E9CA563070E6}"/>
                  </a:ext>
                </a:extLst>
              </p:cNvPr>
              <p:cNvSpPr txBox="1"/>
              <p:nvPr/>
            </p:nvSpPr>
            <p:spPr>
              <a:xfrm>
                <a:off x="540561" y="1051560"/>
                <a:ext cx="11110572" cy="5336204"/>
              </a:xfrm>
              <a:prstGeom prst="rect">
                <a:avLst/>
              </a:prstGeom>
              <a:noFill/>
            </p:spPr>
            <p:txBody>
              <a:bodyPr wrap="square">
                <a:spAutoFit/>
              </a:bodyPr>
              <a:lstStyle/>
              <a:p>
                <a:pPr marL="285750" indent="-285750">
                  <a:buFont typeface="Wingdings" panose="05000000000000000000" pitchFamily="2" charset="2"/>
                  <a:buChar char="Ø"/>
                </a:pPr>
                <a:r>
                  <a:rPr lang="zh-CN" altLang="zh-CN" b="1" dirty="0">
                    <a:effectLst/>
                    <a:latin typeface="Calibri"/>
                  </a:rPr>
                  <a:t>Formulating </a:t>
                </a:r>
                <a:r>
                  <a:rPr lang="zh-CN" altLang="zh-CN" b="1" dirty="0"/>
                  <a:t>SLA</a:t>
                </a:r>
                <a:r>
                  <a:rPr lang="zh-CN" altLang="zh-CN" b="1" dirty="0">
                    <a:effectLst/>
                    <a:latin typeface="Calibri"/>
                  </a:rPr>
                  <a:t> Violations</a:t>
                </a:r>
              </a:p>
              <a:p>
                <a:pPr marL="742950" lvl="1" indent="-285750">
                  <a:buFont typeface="Wingdings" panose="05000000000000000000" pitchFamily="2" charset="2"/>
                  <a:buChar char="Ø"/>
                </a:pPr>
                <a:endParaRPr lang="en-US" altLang="zh-CN" dirty="0">
                  <a:effectLst/>
                  <a:latin typeface="Calibri"/>
                </a:endParaRPr>
              </a:p>
              <a:p>
                <a:pPr marL="742950" lvl="1" indent="-285750">
                  <a:buFont typeface="Wingdings" panose="05000000000000000000" pitchFamily="2" charset="2"/>
                  <a:buChar char="Ø"/>
                </a:pPr>
                <a:r>
                  <a:rPr lang="zh-CN" altLang="zh-CN" b="1" dirty="0">
                    <a:effectLst/>
                    <a:latin typeface="Calibri"/>
                  </a:rPr>
                  <a:t>Hit Ratio Degradation</a:t>
                </a:r>
                <a:r>
                  <a:rPr lang="zh-CN" altLang="zh-CN" dirty="0">
                    <a:effectLst/>
                    <a:latin typeface="Calibri"/>
                  </a:rPr>
                  <a:t> quantifies how far a tenant</a:t>
                </a:r>
                <a:r>
                  <a:rPr lang="en-US" altLang="zh-CN" dirty="0">
                    <a:latin typeface="Calibri"/>
                  </a:rPr>
                  <a:t>’</a:t>
                </a:r>
                <a:r>
                  <a:rPr lang="zh-CN" altLang="zh-CN" dirty="0">
                    <a:effectLst/>
                    <a:latin typeface="Calibri"/>
                  </a:rPr>
                  <a:t>s performance</a:t>
                </a:r>
                <a:r>
                  <a:rPr lang="en-US" altLang="zh-CN" dirty="0">
                    <a:effectLst/>
                    <a:latin typeface="Calibri"/>
                  </a:rPr>
                  <a:t> (hit ratio)</a:t>
                </a:r>
                <a:r>
                  <a:rPr lang="zh-CN" altLang="zh-CN" dirty="0">
                    <a:effectLst/>
                    <a:latin typeface="Calibri"/>
                  </a:rPr>
                  <a:t> drops below its </a:t>
                </a:r>
                <a:r>
                  <a:rPr lang="en-US" altLang="zh-CN" dirty="0">
                    <a:effectLst/>
                    <a:latin typeface="Calibri"/>
                  </a:rPr>
                  <a:t>promised </a:t>
                </a:r>
                <a:r>
                  <a:rPr lang="zh-CN" altLang="zh-CN" dirty="0">
                    <a:effectLst/>
                    <a:latin typeface="Calibri"/>
                  </a:rPr>
                  <a:t>baseline</a:t>
                </a:r>
                <a:r>
                  <a:rPr lang="en-US" altLang="zh-CN" dirty="0">
                    <a:effectLst/>
                    <a:latin typeface="Calibri"/>
                  </a:rPr>
                  <a:t>:</a:t>
                </a:r>
              </a:p>
              <a:p>
                <a:pPr lvl="1"/>
                <a:endParaRPr lang="en-US" altLang="zh-CN" b="0" i="1" dirty="0">
                  <a:latin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𝐻𝑅</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i="1">
                          <a:latin typeface="Cambria Math" panose="02040503050406030204" pitchFamily="18" charset="0"/>
                        </a:rPr>
                        <m:t>𝑚𝑎𝑥</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𝐻𝑅</m:t>
                          </m:r>
                        </m:e>
                        <m:sub>
                          <m:r>
                            <a:rPr lang="en-US" altLang="zh-CN" i="1">
                              <a:latin typeface="Cambria Math" panose="02040503050406030204" pitchFamily="18" charset="0"/>
                            </a:rPr>
                            <m:t>𝑝𝑟𝑜𝑚𝑖𝑠𝑒𝑑</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𝐻𝑅</m:t>
                          </m:r>
                        </m:e>
                        <m:sub>
                          <m:r>
                            <a:rPr lang="en-US" altLang="zh-CN" i="1">
                              <a:latin typeface="Cambria Math" panose="02040503050406030204" pitchFamily="18" charset="0"/>
                            </a:rPr>
                            <m:t>𝑟𝑒𝑎𝑙</m:t>
                          </m:r>
                        </m:sub>
                      </m:sSub>
                      <m:r>
                        <a:rPr lang="en-US" altLang="zh-CN" i="1">
                          <a:latin typeface="Cambria Math" panose="02040503050406030204" pitchFamily="18" charset="0"/>
                        </a:rPr>
                        <m:t>, 0)</m:t>
                      </m:r>
                    </m:oMath>
                  </m:oMathPara>
                </a14:m>
                <a:endParaRPr lang="en-US" altLang="zh-CN" dirty="0">
                  <a:latin typeface="Calibri"/>
                </a:endParaRPr>
              </a:p>
              <a:p>
                <a:pPr marL="742950" lvl="1" indent="-285750">
                  <a:buFont typeface="Wingdings" panose="05000000000000000000" pitchFamily="2" charset="2"/>
                  <a:buChar char="Ø"/>
                </a:pPr>
                <a:endParaRPr lang="en-US" altLang="zh-CN" dirty="0">
                  <a:latin typeface="Calibri"/>
                </a:endParaRPr>
              </a:p>
              <a:p>
                <a:pPr marL="742950" lvl="1" indent="-285750">
                  <a:buFont typeface="Wingdings" panose="05000000000000000000" pitchFamily="2" charset="2"/>
                  <a:buChar char="Ø"/>
                </a:pPr>
                <a:r>
                  <a:rPr lang="zh-CN" altLang="zh-CN" b="1" dirty="0">
                    <a:latin typeface="Calibri"/>
                  </a:rPr>
                  <a:t>SLA cost </a:t>
                </a:r>
                <a:r>
                  <a:rPr lang="zh-CN" altLang="zh-CN" dirty="0">
                    <a:latin typeface="Calibri"/>
                  </a:rPr>
                  <a:t>maps degradation to economic penalties via tenant pricing</a:t>
                </a:r>
                <a:r>
                  <a:rPr lang="en-US" altLang="zh-CN" dirty="0">
                    <a:latin typeface="Calibri"/>
                  </a:rPr>
                  <a:t>:</a:t>
                </a:r>
              </a:p>
              <a:p>
                <a:pPr lvl="1"/>
                <a:endParaRPr lang="en-US" altLang="zh-CN" i="1" dirty="0">
                  <a:latin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𝑆𝐿𝐴</m:t>
                      </m:r>
                      <m:r>
                        <a:rPr lang="en-US" altLang="zh-CN" i="1">
                          <a:latin typeface="Cambria Math" panose="02040503050406030204" pitchFamily="18" charset="0"/>
                        </a:rPr>
                        <m:t> </m:t>
                      </m:r>
                      <m:r>
                        <a:rPr lang="en-US" altLang="zh-CN" i="1">
                          <a:latin typeface="Cambria Math" panose="02040503050406030204" pitchFamily="18" charset="0"/>
                        </a:rPr>
                        <m:t>𝐶</m:t>
                      </m:r>
                      <m:sSub>
                        <m:sSubPr>
                          <m:ctrlPr>
                            <a:rPr lang="en-US" altLang="zh-CN" i="1">
                              <a:latin typeface="Cambria Math" panose="02040503050406030204" pitchFamily="18" charset="0"/>
                            </a:rPr>
                          </m:ctrlPr>
                        </m:sSubPr>
                        <m:e>
                          <m:r>
                            <a:rPr lang="en-US" altLang="zh-CN" i="1">
                              <a:latin typeface="Cambria Math" panose="02040503050406030204" pitchFamily="18" charset="0"/>
                            </a:rPr>
                            <m:t>𝑜𝑠𝑡</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i="1">
                              <a:latin typeface="Cambria Math" panose="02040503050406030204" pitchFamily="18" charset="0"/>
                            </a:rPr>
                            <m:t>𝑖</m:t>
                          </m:r>
                        </m:sub>
                      </m:sSub>
                      <m:r>
                        <a:rPr lang="en-US" altLang="zh-CN" i="1">
                          <a:latin typeface="Cambria Math" panose="02040503050406030204" pitchFamily="18" charset="0"/>
                        </a:rPr>
                        <m:t> ∗</m:t>
                      </m:r>
                      <m:r>
                        <a:rPr lang="en-US" altLang="zh-CN" i="1">
                          <a:latin typeface="Cambria Math" panose="02040503050406030204" pitchFamily="18" charset="0"/>
                        </a:rPr>
                        <m:t>𝐻𝑅</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oMath>
                  </m:oMathPara>
                </a14:m>
                <a:endParaRPr lang="en-US" altLang="zh-CN" b="1" dirty="0">
                  <a:effectLst/>
                  <a:latin typeface="Calibri"/>
                </a:endParaRPr>
              </a:p>
              <a:p>
                <a:pPr marL="285750" indent="-285750">
                  <a:buFont typeface="Wingdings" panose="05000000000000000000" pitchFamily="2" charset="2"/>
                  <a:buChar char="Ø"/>
                </a:pPr>
                <a:endParaRPr lang="en-US" altLang="zh-CN" b="1" dirty="0">
                  <a:effectLst/>
                  <a:latin typeface="Calibri"/>
                </a:endParaRPr>
              </a:p>
              <a:p>
                <a:pPr marL="285750" indent="-285750">
                  <a:buFont typeface="Wingdings" panose="05000000000000000000" pitchFamily="2" charset="2"/>
                  <a:buChar char="Ø"/>
                </a:pPr>
                <a:r>
                  <a:rPr lang="zh-CN" altLang="zh-CN" b="1" dirty="0">
                    <a:effectLst/>
                    <a:latin typeface="Calibri"/>
                  </a:rPr>
                  <a:t>The Global Optimization Target</a:t>
                </a:r>
                <a:endParaRPr lang="en-US" altLang="zh-CN" b="1" dirty="0">
                  <a:effectLst/>
                  <a:latin typeface="Calibri"/>
                </a:endParaRPr>
              </a:p>
              <a:p>
                <a:pPr marL="285750" indent="-285750">
                  <a:buFont typeface="Wingdings" panose="05000000000000000000" pitchFamily="2" charset="2"/>
                  <a:buChar char="Ø"/>
                </a:pPr>
                <a:endParaRPr lang="en-US" altLang="zh-CN" dirty="0">
                  <a:latin typeface="Calibri"/>
                </a:endParaRPr>
              </a:p>
              <a:p>
                <a:pPr marL="742950" lvl="1" indent="-285750">
                  <a:buFont typeface="Wingdings" panose="05000000000000000000" pitchFamily="2" charset="2"/>
                  <a:buChar char="Ø"/>
                </a:pPr>
                <a:r>
                  <a:rPr lang="zh-CN" altLang="zh-CN" dirty="0">
                    <a:solidFill>
                      <a:srgbClr val="FF0000"/>
                    </a:solidFill>
                    <a:effectLst/>
                    <a:latin typeface="Calibri"/>
                  </a:rPr>
                  <a:t>Global objective: minimize total SLA cost</a:t>
                </a:r>
                <a:r>
                  <a:rPr lang="en-US" altLang="zh-CN" dirty="0">
                    <a:solidFill>
                      <a:srgbClr val="FF0000"/>
                    </a:solidFill>
                    <a:effectLst/>
                    <a:latin typeface="Calibri"/>
                  </a:rPr>
                  <a:t> ( </a:t>
                </a:r>
                <a:r>
                  <a:rPr lang="zh-CN" altLang="zh-CN" dirty="0">
                    <a:solidFill>
                      <a:srgbClr val="FF0000"/>
                    </a:solidFill>
                  </a:rPr>
                  <a:t>minimize</a:t>
                </a:r>
                <a:r>
                  <a:rPr lang="en-US" altLang="zh-CN" dirty="0">
                    <a:solidFill>
                      <a:srgbClr val="FF0000"/>
                    </a:solidFill>
                  </a:rPr>
                  <a:t> overall SLA violation )</a:t>
                </a:r>
                <a:endParaRPr lang="en-US" altLang="zh-CN" dirty="0">
                  <a:solidFill>
                    <a:srgbClr val="FF0000"/>
                  </a:solidFill>
                  <a:effectLst/>
                  <a:latin typeface="Calibri"/>
                </a:endParaRPr>
              </a:p>
              <a:p>
                <a:pPr lvl="1" algn="ctr"/>
                <a:endParaRPr lang="en-US" altLang="zh-CN" i="1" dirty="0">
                  <a:effectLst/>
                  <a:latin typeface="Cambria Math" panose="02040503050406030204" pitchFamily="18" charset="0"/>
                </a:endParaRPr>
              </a:p>
              <a:p>
                <a:pPr lvl="1" algn="ctr"/>
                <a14:m>
                  <m:oMathPara xmlns:m="http://schemas.openxmlformats.org/officeDocument/2006/math">
                    <m:oMathParaPr>
                      <m:jc m:val="centerGroup"/>
                    </m:oMathParaPr>
                    <m:oMath xmlns:m="http://schemas.openxmlformats.org/officeDocument/2006/math">
                      <m:func>
                        <m:funcPr>
                          <m:ctrlPr>
                            <a:rPr lang="zh-CN" altLang="en-US" i="1" smtClean="0">
                              <a:effectLst/>
                              <a:latin typeface="Cambria Math" panose="02040503050406030204" pitchFamily="18" charset="0"/>
                            </a:rPr>
                          </m:ctrlPr>
                        </m:funcPr>
                        <m:fName>
                          <m:limLow>
                            <m:limLowPr>
                              <m:ctrlPr>
                                <a:rPr lang="zh-CN" altLang="en-US" i="1" smtClean="0">
                                  <a:effectLst/>
                                  <a:latin typeface="Cambria Math" panose="02040503050406030204" pitchFamily="18" charset="0"/>
                                </a:rPr>
                              </m:ctrlPr>
                            </m:limLowPr>
                            <m:e>
                              <m:r>
                                <m:rPr>
                                  <m:sty m:val="p"/>
                                </m:rPr>
                                <a:rPr lang="en-US" altLang="zh-CN" i="0" smtClean="0">
                                  <a:effectLst/>
                                  <a:latin typeface="Cambria Math" panose="02040503050406030204" pitchFamily="18" charset="0"/>
                                </a:rPr>
                                <m:t>min</m:t>
                              </m:r>
                            </m:e>
                            <m:lim>
                              <m:r>
                                <a:rPr lang="en-US" altLang="zh-CN" b="0" i="1" smtClean="0">
                                  <a:effectLst/>
                                  <a:latin typeface="Cambria Math" panose="02040503050406030204" pitchFamily="18" charset="0"/>
                                </a:rPr>
                                <m:t>𝑎</m:t>
                              </m:r>
                              <m:r>
                                <a:rPr lang="en-US" altLang="zh-CN" b="0" i="1" smtClean="0">
                                  <a:effectLst/>
                                  <a:latin typeface="Cambria Math" panose="02040503050406030204" pitchFamily="18" charset="0"/>
                                </a:rPr>
                                <m:t>(</m:t>
                              </m:r>
                              <m:r>
                                <a:rPr lang="en-US" altLang="zh-CN" b="0" i="1" smtClean="0">
                                  <a:effectLst/>
                                  <a:latin typeface="Cambria Math" panose="02040503050406030204" pitchFamily="18" charset="0"/>
                                </a:rPr>
                                <m:t>𝑡</m:t>
                              </m:r>
                              <m:r>
                                <a:rPr lang="en-US" altLang="zh-CN" b="0" i="1" smtClean="0">
                                  <a:effectLst/>
                                  <a:latin typeface="Cambria Math" panose="02040503050406030204" pitchFamily="18" charset="0"/>
                                </a:rPr>
                                <m:t>)</m:t>
                              </m:r>
                            </m:lim>
                          </m:limLow>
                        </m:fName>
                        <m:e>
                          <m:nary>
                            <m:naryPr>
                              <m:chr m:val="∑"/>
                              <m:supHide m:val="on"/>
                              <m:ctrlPr>
                                <a:rPr lang="zh-CN" altLang="en-US" i="1" smtClean="0">
                                  <a:effectLst/>
                                  <a:latin typeface="Cambria Math" panose="02040503050406030204" pitchFamily="18" charset="0"/>
                                </a:rPr>
                              </m:ctrlPr>
                            </m:naryPr>
                            <m:sub>
                              <m:r>
                                <m:rPr>
                                  <m:brk m:alnAt="7"/>
                                </m:rPr>
                                <a:rPr lang="en-US" altLang="zh-CN" b="0" i="1" smtClean="0">
                                  <a:effectLst/>
                                  <a:latin typeface="Cambria Math" panose="02040503050406030204" pitchFamily="18" charset="0"/>
                                </a:rPr>
                                <m:t>𝑖</m:t>
                              </m:r>
                            </m:sub>
                            <m:sup/>
                            <m:e>
                              <m:r>
                                <a:rPr lang="en-US" altLang="zh-CN" i="1">
                                  <a:latin typeface="Cambria Math" panose="02040503050406030204" pitchFamily="18" charset="0"/>
                                </a:rPr>
                                <m:t>𝑆𝐿𝐴</m:t>
                              </m:r>
                              <m:r>
                                <a:rPr lang="en-US" altLang="zh-CN" i="1">
                                  <a:latin typeface="Cambria Math" panose="02040503050406030204" pitchFamily="18" charset="0"/>
                                </a:rPr>
                                <m:t> </m:t>
                              </m:r>
                              <m:r>
                                <a:rPr lang="en-US" altLang="zh-CN" i="1">
                                  <a:latin typeface="Cambria Math" panose="02040503050406030204" pitchFamily="18" charset="0"/>
                                </a:rPr>
                                <m:t>𝐶</m:t>
                              </m:r>
                              <m:sSub>
                                <m:sSubPr>
                                  <m:ctrlPr>
                                    <a:rPr lang="en-US" altLang="zh-CN" i="1">
                                      <a:latin typeface="Cambria Math" panose="02040503050406030204" pitchFamily="18" charset="0"/>
                                    </a:rPr>
                                  </m:ctrlPr>
                                </m:sSubPr>
                                <m:e>
                                  <m:r>
                                    <a:rPr lang="en-US" altLang="zh-CN" i="1">
                                      <a:latin typeface="Cambria Math" panose="02040503050406030204" pitchFamily="18" charset="0"/>
                                    </a:rPr>
                                    <m:t>𝑜𝑠𝑡</m:t>
                                  </m:r>
                                </m:e>
                                <m:sub>
                                  <m:r>
                                    <a:rPr lang="en-US" altLang="zh-CN" i="1">
                                      <a:latin typeface="Cambria Math" panose="02040503050406030204" pitchFamily="18" charset="0"/>
                                    </a:rPr>
                                    <m:t>𝑖</m:t>
                                  </m:r>
                                </m:sub>
                              </m:sSub>
                            </m:e>
                          </m:nary>
                        </m:e>
                      </m:func>
                      <m:r>
                        <a:rPr lang="en-US" altLang="zh-CN" b="0" i="1" smtClean="0">
                          <a:effectLst/>
                          <a:latin typeface="Cambria Math" panose="02040503050406030204" pitchFamily="18" charset="0"/>
                        </a:rPr>
                        <m:t>  </m:t>
                      </m:r>
                    </m:oMath>
                  </m:oMathPara>
                </a14:m>
                <a:br>
                  <a:rPr lang="en-US" altLang="zh-CN" dirty="0">
                    <a:effectLst/>
                    <a:latin typeface="Calibri"/>
                  </a:rPr>
                </a:br>
                <a:endParaRPr lang="en-US" altLang="zh-CN" b="0" i="0" dirty="0">
                  <a:latin typeface="Cambria Math" panose="02040503050406030204" pitchFamily="18" charset="0"/>
                </a:endParaRPr>
              </a:p>
              <a:p>
                <a:pPr lvl="1"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subject</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to</m:t>
                      </m:r>
                      <m:nary>
                        <m:naryPr>
                          <m:chr m:val="∑"/>
                          <m:supHide m:val="on"/>
                          <m:ctrlPr>
                            <a:rPr lang="zh-CN" altLang="en-US" i="1" smtClean="0">
                              <a:latin typeface="Cambria Math" panose="02040503050406030204" pitchFamily="18" charset="0"/>
                            </a:rPr>
                          </m:ctrlPr>
                        </m:naryPr>
                        <m:sub>
                          <m:r>
                            <m:rPr>
                              <m:brk m:alnAt="7"/>
                            </m:rPr>
                            <a:rPr lang="en-US" altLang="zh-CN" i="1">
                              <a:latin typeface="Cambria Math" panose="02040503050406030204" pitchFamily="18" charset="0"/>
                            </a:rPr>
                            <m:t>𝑖</m:t>
                          </m:r>
                        </m:sub>
                        <m:sup/>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𝑖</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𝑡𝑜𝑡𝑎𝑙</m:t>
                              </m:r>
                            </m:sub>
                          </m:sSub>
                        </m:e>
                      </m:nary>
                    </m:oMath>
                  </m:oMathPara>
                </a14:m>
                <a:endParaRPr lang="zh-CN" altLang="zh-CN" dirty="0">
                  <a:effectLst/>
                  <a:latin typeface="Calibri"/>
                </a:endParaRPr>
              </a:p>
            </p:txBody>
          </p:sp>
        </mc:Choice>
        <mc:Fallback xmlns="">
          <p:sp>
            <p:nvSpPr>
              <p:cNvPr id="11" name="文本框 10">
                <a:extLst>
                  <a:ext uri="{FF2B5EF4-FFF2-40B4-BE49-F238E27FC236}">
                    <a16:creationId xmlns:a16="http://schemas.microsoft.com/office/drawing/2014/main" id="{233595C5-EBFD-B63B-C6B8-E9CA563070E6}"/>
                  </a:ext>
                </a:extLst>
              </p:cNvPr>
              <p:cNvSpPr txBox="1">
                <a:spLocks noRot="1" noChangeAspect="1" noMove="1" noResize="1" noEditPoints="1" noAdjustHandles="1" noChangeArrowheads="1" noChangeShapeType="1" noTextEdit="1"/>
              </p:cNvSpPr>
              <p:nvPr/>
            </p:nvSpPr>
            <p:spPr>
              <a:xfrm>
                <a:off x="540561" y="1051560"/>
                <a:ext cx="11110572" cy="5336204"/>
              </a:xfrm>
              <a:prstGeom prst="rect">
                <a:avLst/>
              </a:prstGeom>
              <a:blipFill>
                <a:blip r:embed="rId3"/>
                <a:stretch>
                  <a:fillRect l="-384" t="-686" r="-823"/>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defRPr sz="3200" b="1">
                <a:solidFill>
                  <a:srgbClr val="FFFFFF"/>
                </a:solidFill>
                <a:latin typeface="Calibri"/>
              </a:defRPr>
            </a:pPr>
            <a:r>
              <a:rPr dirty="0"/>
              <a:t>MARL: </a:t>
            </a:r>
            <a:r>
              <a:rPr lang="en-US" dirty="0"/>
              <a:t>System Architecture</a:t>
            </a:r>
            <a:endParaRPr dirty="0"/>
          </a:p>
        </p:txBody>
      </p:sp>
      <p:pic>
        <p:nvPicPr>
          <p:cNvPr id="18" name="图片 17">
            <a:extLst>
              <a:ext uri="{FF2B5EF4-FFF2-40B4-BE49-F238E27FC236}">
                <a16:creationId xmlns:a16="http://schemas.microsoft.com/office/drawing/2014/main" id="{A2315C2C-59D4-B7A6-659B-1C250962577C}"/>
              </a:ext>
            </a:extLst>
          </p:cNvPr>
          <p:cNvPicPr>
            <a:picLocks noChangeAspect="1"/>
          </p:cNvPicPr>
          <p:nvPr/>
        </p:nvPicPr>
        <p:blipFill>
          <a:blip r:embed="rId3"/>
          <a:stretch>
            <a:fillRect/>
          </a:stretch>
        </p:blipFill>
        <p:spPr>
          <a:xfrm>
            <a:off x="2357960" y="3227760"/>
            <a:ext cx="7242877" cy="3493080"/>
          </a:xfrm>
          <a:prstGeom prst="rect">
            <a:avLst/>
          </a:prstGeom>
        </p:spPr>
      </p:pic>
      <p:sp>
        <p:nvSpPr>
          <p:cNvPr id="20" name="Shape 2">
            <a:extLst>
              <a:ext uri="{FF2B5EF4-FFF2-40B4-BE49-F238E27FC236}">
                <a16:creationId xmlns:a16="http://schemas.microsoft.com/office/drawing/2014/main" id="{D443AF37-B350-6996-F083-8912485F31C6}"/>
              </a:ext>
            </a:extLst>
          </p:cNvPr>
          <p:cNvSpPr/>
          <p:nvPr/>
        </p:nvSpPr>
        <p:spPr>
          <a:xfrm>
            <a:off x="1714500" y="1023912"/>
            <a:ext cx="2697480" cy="2039040"/>
          </a:xfrm>
          <a:prstGeom prst="rect">
            <a:avLst/>
          </a:prstGeom>
          <a:solidFill>
            <a:srgbClr val="FFFFFF"/>
          </a:solidFill>
          <a:ln>
            <a:solidFill>
              <a:schemeClr val="tx1"/>
            </a:solidFill>
          </a:ln>
          <a:effectLst>
            <a:outerShdw blurRad="101600" dist="25400" dir="8100000" algn="bl" rotWithShape="0">
              <a:srgbClr val="000000">
                <a:alpha val="12000"/>
              </a:srgbClr>
            </a:outerShdw>
          </a:effectLst>
        </p:spPr>
        <p:txBody>
          <a:bodyPr/>
          <a:lstStyle/>
          <a:p>
            <a:endParaRPr lang="zh-CN" altLang="en-US"/>
          </a:p>
        </p:txBody>
      </p:sp>
      <p:sp>
        <p:nvSpPr>
          <p:cNvPr id="21" name="Shape 3">
            <a:extLst>
              <a:ext uri="{FF2B5EF4-FFF2-40B4-BE49-F238E27FC236}">
                <a16:creationId xmlns:a16="http://schemas.microsoft.com/office/drawing/2014/main" id="{33421F92-06D0-F941-8D8C-7DDD8ACE4E39}"/>
              </a:ext>
            </a:extLst>
          </p:cNvPr>
          <p:cNvSpPr/>
          <p:nvPr/>
        </p:nvSpPr>
        <p:spPr>
          <a:xfrm>
            <a:off x="1714500" y="1023912"/>
            <a:ext cx="2697480" cy="142340"/>
          </a:xfrm>
          <a:prstGeom prst="rect">
            <a:avLst/>
          </a:prstGeom>
          <a:solidFill>
            <a:srgbClr val="0891B2"/>
          </a:solidFill>
          <a:ln>
            <a:solidFill>
              <a:srgbClr val="0891B2"/>
            </a:solidFill>
          </a:ln>
        </p:spPr>
        <p:txBody>
          <a:bodyPr/>
          <a:lstStyle/>
          <a:p>
            <a:endParaRPr lang="zh-CN" altLang="en-US"/>
          </a:p>
        </p:txBody>
      </p:sp>
      <p:sp>
        <p:nvSpPr>
          <p:cNvPr id="22" name="Shape 4">
            <a:extLst>
              <a:ext uri="{FF2B5EF4-FFF2-40B4-BE49-F238E27FC236}">
                <a16:creationId xmlns:a16="http://schemas.microsoft.com/office/drawing/2014/main" id="{2EF915CC-4309-793F-2209-53305877D03B}"/>
              </a:ext>
            </a:extLst>
          </p:cNvPr>
          <p:cNvSpPr/>
          <p:nvPr/>
        </p:nvSpPr>
        <p:spPr>
          <a:xfrm>
            <a:off x="1897380" y="1252512"/>
            <a:ext cx="365760" cy="214636"/>
          </a:xfrm>
          <a:prstGeom prst="rect">
            <a:avLst/>
          </a:prstGeom>
          <a:solidFill>
            <a:srgbClr val="0891B2"/>
          </a:solidFill>
          <a:ln/>
        </p:spPr>
        <p:txBody>
          <a:bodyPr/>
          <a:lstStyle/>
          <a:p>
            <a:endParaRPr lang="zh-CN" altLang="en-US"/>
          </a:p>
        </p:txBody>
      </p:sp>
      <p:sp>
        <p:nvSpPr>
          <p:cNvPr id="23" name="Text 5">
            <a:extLst>
              <a:ext uri="{FF2B5EF4-FFF2-40B4-BE49-F238E27FC236}">
                <a16:creationId xmlns:a16="http://schemas.microsoft.com/office/drawing/2014/main" id="{9D8F233B-10D5-46ED-BFF3-F26B24DF826E}"/>
              </a:ext>
            </a:extLst>
          </p:cNvPr>
          <p:cNvSpPr/>
          <p:nvPr/>
        </p:nvSpPr>
        <p:spPr>
          <a:xfrm>
            <a:off x="1897380" y="1252512"/>
            <a:ext cx="365760" cy="2146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4" name="Text 6">
            <a:extLst>
              <a:ext uri="{FF2B5EF4-FFF2-40B4-BE49-F238E27FC236}">
                <a16:creationId xmlns:a16="http://schemas.microsoft.com/office/drawing/2014/main" id="{6C75326D-3A82-F57F-4E91-B3F3D32E1121}"/>
              </a:ext>
            </a:extLst>
          </p:cNvPr>
          <p:cNvSpPr/>
          <p:nvPr/>
        </p:nvSpPr>
        <p:spPr>
          <a:xfrm>
            <a:off x="2354580" y="1252512"/>
            <a:ext cx="1874520" cy="214636"/>
          </a:xfrm>
          <a:prstGeom prst="rect">
            <a:avLst/>
          </a:prstGeom>
          <a:noFill/>
          <a:ln/>
        </p:spPr>
        <p:txBody>
          <a:bodyPr wrap="square" lIns="0" tIns="0" rIns="0" bIns="0" rtlCol="0" anchor="ctr"/>
          <a:lstStyle/>
          <a:p>
            <a:pPr marL="0" indent="0">
              <a:buNone/>
            </a:pPr>
            <a:r>
              <a:rPr lang="en-US" b="1" dirty="0">
                <a:solidFill>
                  <a:srgbClr val="0F172A"/>
                </a:solidFill>
                <a:latin typeface="Calibri" pitchFamily="34" charset="0"/>
                <a:ea typeface="Calibri" pitchFamily="34" charset="-122"/>
                <a:cs typeface="Calibri" pitchFamily="34" charset="-120"/>
              </a:rPr>
              <a:t>Monitor</a:t>
            </a:r>
            <a:endParaRPr lang="en-US" sz="1700" dirty="0"/>
          </a:p>
        </p:txBody>
      </p:sp>
      <p:sp>
        <p:nvSpPr>
          <p:cNvPr id="25" name="Text 7">
            <a:extLst>
              <a:ext uri="{FF2B5EF4-FFF2-40B4-BE49-F238E27FC236}">
                <a16:creationId xmlns:a16="http://schemas.microsoft.com/office/drawing/2014/main" id="{0776BBE0-BE7A-B112-8AD1-2BCE50BF8C1E}"/>
              </a:ext>
            </a:extLst>
          </p:cNvPr>
          <p:cNvSpPr/>
          <p:nvPr/>
        </p:nvSpPr>
        <p:spPr>
          <a:xfrm>
            <a:off x="1897380" y="1552586"/>
            <a:ext cx="2245036" cy="1307215"/>
          </a:xfrm>
          <a:prstGeom prst="rect">
            <a:avLst/>
          </a:prstGeom>
          <a:noFill/>
          <a:ln/>
        </p:spPr>
        <p:txBody>
          <a:bodyPr wrap="square" lIns="0" tIns="0" rIns="0" bIns="0" rtlCol="0" anchor="t"/>
          <a:lstStyle/>
          <a:p>
            <a:pPr marL="0" indent="0">
              <a:lnSpc>
                <a:spcPct val="150000"/>
              </a:lnSpc>
              <a:buNone/>
            </a:pPr>
            <a:r>
              <a:rPr lang="en-US" sz="1200" dirty="0">
                <a:latin typeface="Calibri" pitchFamily="34" charset="0"/>
                <a:ea typeface="Calibri" pitchFamily="34" charset="-122"/>
                <a:cs typeface="Calibri" pitchFamily="34" charset="-120"/>
              </a:rPr>
              <a:t>Collects runtime stats per tenant</a:t>
            </a:r>
            <a:endParaRPr lang="en-US" sz="1200" dirty="0"/>
          </a:p>
          <a:p>
            <a:pPr marL="0" indent="0">
              <a:lnSpc>
                <a:spcPct val="150000"/>
              </a:lnSpc>
              <a:buNone/>
            </a:pPr>
            <a:r>
              <a:rPr lang="en-US" sz="1200" dirty="0">
                <a:latin typeface="Calibri" pitchFamily="34" charset="0"/>
                <a:ea typeface="Calibri" pitchFamily="34" charset="-122"/>
                <a:cs typeface="Calibri" pitchFamily="34" charset="-120"/>
              </a:rPr>
              <a:t>• SLA cost, buffer sizes, etc.</a:t>
            </a:r>
            <a:endParaRPr lang="en-US" sz="1200" dirty="0"/>
          </a:p>
          <a:p>
            <a:pPr marL="0" indent="0">
              <a:lnSpc>
                <a:spcPct val="150000"/>
              </a:lnSpc>
              <a:buNone/>
            </a:pPr>
            <a:r>
              <a:rPr lang="en-US" sz="1200" dirty="0">
                <a:latin typeface="Calibri" pitchFamily="34" charset="0"/>
                <a:ea typeface="Calibri" pitchFamily="34" charset="-122"/>
                <a:cs typeface="Calibri" pitchFamily="34" charset="-120"/>
              </a:rPr>
              <a:t>• Aggregated over fixed interval</a:t>
            </a:r>
            <a:endParaRPr lang="en-US" sz="1200" dirty="0"/>
          </a:p>
          <a:p>
            <a:pPr marL="0" indent="0">
              <a:lnSpc>
                <a:spcPct val="150000"/>
              </a:lnSpc>
              <a:buNone/>
            </a:pPr>
            <a:r>
              <a:rPr lang="en-US" sz="1200" dirty="0">
                <a:latin typeface="Calibri" pitchFamily="34" charset="0"/>
                <a:ea typeface="Calibri" pitchFamily="34" charset="-122"/>
                <a:cs typeface="Calibri" pitchFamily="34" charset="-120"/>
              </a:rPr>
              <a:t>• Normalized → RL state</a:t>
            </a:r>
            <a:endParaRPr lang="en-US" sz="1200" dirty="0"/>
          </a:p>
        </p:txBody>
      </p:sp>
      <p:sp>
        <p:nvSpPr>
          <p:cNvPr id="26" name="Shape 8">
            <a:extLst>
              <a:ext uri="{FF2B5EF4-FFF2-40B4-BE49-F238E27FC236}">
                <a16:creationId xmlns:a16="http://schemas.microsoft.com/office/drawing/2014/main" id="{2FBE0664-E4CC-F70E-217C-33C7A3490427}"/>
              </a:ext>
            </a:extLst>
          </p:cNvPr>
          <p:cNvSpPr/>
          <p:nvPr/>
        </p:nvSpPr>
        <p:spPr>
          <a:xfrm>
            <a:off x="4594860" y="1023912"/>
            <a:ext cx="2697480" cy="2039040"/>
          </a:xfrm>
          <a:prstGeom prst="rect">
            <a:avLst/>
          </a:prstGeom>
          <a:solidFill>
            <a:srgbClr val="FFFFFF"/>
          </a:solidFill>
          <a:ln>
            <a:solidFill>
              <a:schemeClr val="tx1"/>
            </a:solidFill>
          </a:ln>
          <a:effectLst>
            <a:outerShdw blurRad="101600" dist="25400" dir="8100000" algn="bl" rotWithShape="0">
              <a:srgbClr val="000000">
                <a:alpha val="12000"/>
              </a:srgbClr>
            </a:outerShdw>
          </a:effectLst>
        </p:spPr>
        <p:txBody>
          <a:bodyPr/>
          <a:lstStyle/>
          <a:p>
            <a:endParaRPr lang="zh-CN" altLang="en-US"/>
          </a:p>
        </p:txBody>
      </p:sp>
      <p:sp>
        <p:nvSpPr>
          <p:cNvPr id="27" name="Shape 9">
            <a:extLst>
              <a:ext uri="{FF2B5EF4-FFF2-40B4-BE49-F238E27FC236}">
                <a16:creationId xmlns:a16="http://schemas.microsoft.com/office/drawing/2014/main" id="{9429F228-66BA-C07B-16A2-4D4015EC9B0B}"/>
              </a:ext>
            </a:extLst>
          </p:cNvPr>
          <p:cNvSpPr/>
          <p:nvPr/>
        </p:nvSpPr>
        <p:spPr>
          <a:xfrm>
            <a:off x="4594860" y="1023912"/>
            <a:ext cx="2697480" cy="141556"/>
          </a:xfrm>
          <a:prstGeom prst="rect">
            <a:avLst/>
          </a:prstGeom>
          <a:solidFill>
            <a:srgbClr val="F79646"/>
          </a:solidFill>
          <a:ln/>
        </p:spPr>
        <p:txBody>
          <a:bodyPr/>
          <a:lstStyle/>
          <a:p>
            <a:endParaRPr lang="zh-CN" altLang="en-US"/>
          </a:p>
        </p:txBody>
      </p:sp>
      <p:sp>
        <p:nvSpPr>
          <p:cNvPr id="28" name="Shape 10">
            <a:extLst>
              <a:ext uri="{FF2B5EF4-FFF2-40B4-BE49-F238E27FC236}">
                <a16:creationId xmlns:a16="http://schemas.microsoft.com/office/drawing/2014/main" id="{6FCB8D1C-26C2-6F9A-BE7E-A3635AA83FE4}"/>
              </a:ext>
            </a:extLst>
          </p:cNvPr>
          <p:cNvSpPr/>
          <p:nvPr/>
        </p:nvSpPr>
        <p:spPr>
          <a:xfrm>
            <a:off x="4777740" y="1252512"/>
            <a:ext cx="365760" cy="214636"/>
          </a:xfrm>
          <a:prstGeom prst="rect">
            <a:avLst/>
          </a:prstGeom>
          <a:solidFill>
            <a:srgbClr val="F79646"/>
          </a:solidFill>
          <a:ln/>
        </p:spPr>
        <p:txBody>
          <a:bodyPr/>
          <a:lstStyle/>
          <a:p>
            <a:endParaRPr lang="zh-CN" altLang="en-US"/>
          </a:p>
        </p:txBody>
      </p:sp>
      <p:sp>
        <p:nvSpPr>
          <p:cNvPr id="29" name="Text 11">
            <a:extLst>
              <a:ext uri="{FF2B5EF4-FFF2-40B4-BE49-F238E27FC236}">
                <a16:creationId xmlns:a16="http://schemas.microsoft.com/office/drawing/2014/main" id="{90A826DC-0333-19CA-257A-63A1C9E61FD2}"/>
              </a:ext>
            </a:extLst>
          </p:cNvPr>
          <p:cNvSpPr/>
          <p:nvPr/>
        </p:nvSpPr>
        <p:spPr>
          <a:xfrm>
            <a:off x="4777740" y="1252512"/>
            <a:ext cx="365760" cy="2146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0" name="Text 12">
            <a:extLst>
              <a:ext uri="{FF2B5EF4-FFF2-40B4-BE49-F238E27FC236}">
                <a16:creationId xmlns:a16="http://schemas.microsoft.com/office/drawing/2014/main" id="{FB54F629-D219-1D09-23FC-C2EB37979D85}"/>
              </a:ext>
            </a:extLst>
          </p:cNvPr>
          <p:cNvSpPr/>
          <p:nvPr/>
        </p:nvSpPr>
        <p:spPr>
          <a:xfrm>
            <a:off x="5234940" y="1252512"/>
            <a:ext cx="1874520" cy="214636"/>
          </a:xfrm>
          <a:prstGeom prst="rect">
            <a:avLst/>
          </a:prstGeom>
          <a:noFill/>
          <a:ln/>
        </p:spPr>
        <p:txBody>
          <a:bodyPr wrap="square" lIns="0" tIns="0" rIns="0" bIns="0" rtlCol="0" anchor="ctr"/>
          <a:lstStyle/>
          <a:p>
            <a:pPr marL="0" indent="0">
              <a:buNone/>
            </a:pPr>
            <a:r>
              <a:rPr lang="en-US" b="1" dirty="0">
                <a:solidFill>
                  <a:srgbClr val="0F172A"/>
                </a:solidFill>
                <a:latin typeface="Calibri" pitchFamily="34" charset="0"/>
                <a:ea typeface="Calibri" pitchFamily="34" charset="-122"/>
                <a:cs typeface="Calibri" pitchFamily="34" charset="-120"/>
              </a:rPr>
              <a:t>Agent Layer</a:t>
            </a:r>
            <a:endParaRPr lang="en-US" dirty="0"/>
          </a:p>
        </p:txBody>
      </p:sp>
      <p:sp>
        <p:nvSpPr>
          <p:cNvPr id="31" name="Text 13">
            <a:extLst>
              <a:ext uri="{FF2B5EF4-FFF2-40B4-BE49-F238E27FC236}">
                <a16:creationId xmlns:a16="http://schemas.microsoft.com/office/drawing/2014/main" id="{B6B07510-AEEA-907A-9946-EA848AB04B52}"/>
              </a:ext>
            </a:extLst>
          </p:cNvPr>
          <p:cNvSpPr/>
          <p:nvPr/>
        </p:nvSpPr>
        <p:spPr>
          <a:xfrm>
            <a:off x="4777740" y="1552586"/>
            <a:ext cx="2331720" cy="1502451"/>
          </a:xfrm>
          <a:prstGeom prst="rect">
            <a:avLst/>
          </a:prstGeom>
          <a:noFill/>
          <a:ln/>
        </p:spPr>
        <p:txBody>
          <a:bodyPr wrap="square" lIns="0" tIns="0" rIns="0" bIns="0" rtlCol="0" anchor="t"/>
          <a:lstStyle/>
          <a:p>
            <a:pPr marL="0" indent="0">
              <a:lnSpc>
                <a:spcPct val="150000"/>
              </a:lnSpc>
              <a:buNone/>
            </a:pPr>
            <a:r>
              <a:rPr lang="en-US" sz="1200" dirty="0">
                <a:latin typeface="Calibri" pitchFamily="34" charset="0"/>
                <a:ea typeface="Calibri" pitchFamily="34" charset="-122"/>
                <a:cs typeface="Calibri" pitchFamily="34" charset="-120"/>
              </a:rPr>
              <a:t>Each tenant = independent RL agent</a:t>
            </a:r>
            <a:endParaRPr lang="en-US" sz="1200" dirty="0"/>
          </a:p>
          <a:p>
            <a:pPr marL="0" indent="0">
              <a:lnSpc>
                <a:spcPct val="150000"/>
              </a:lnSpc>
              <a:buNone/>
            </a:pPr>
            <a:r>
              <a:rPr lang="en-US" sz="1200" dirty="0">
                <a:latin typeface="Calibri" pitchFamily="34" charset="0"/>
                <a:ea typeface="Calibri" pitchFamily="34" charset="-122"/>
                <a:cs typeface="Calibri" pitchFamily="34" charset="-120"/>
              </a:rPr>
              <a:t>• Observes own state</a:t>
            </a:r>
            <a:endParaRPr lang="en-US" sz="1200" dirty="0"/>
          </a:p>
          <a:p>
            <a:pPr marL="0" indent="0">
              <a:lnSpc>
                <a:spcPct val="150000"/>
              </a:lnSpc>
              <a:buNone/>
            </a:pPr>
            <a:r>
              <a:rPr lang="en-US" sz="1200" dirty="0">
                <a:latin typeface="Calibri" pitchFamily="34" charset="0"/>
                <a:ea typeface="Calibri" pitchFamily="34" charset="-122"/>
                <a:cs typeface="Calibri" pitchFamily="34" charset="-120"/>
              </a:rPr>
              <a:t>• Actions: Grow or Shrink</a:t>
            </a:r>
            <a:endParaRPr lang="en-US" sz="1200" dirty="0"/>
          </a:p>
        </p:txBody>
      </p:sp>
      <p:sp>
        <p:nvSpPr>
          <p:cNvPr id="32" name="Shape 14">
            <a:extLst>
              <a:ext uri="{FF2B5EF4-FFF2-40B4-BE49-F238E27FC236}">
                <a16:creationId xmlns:a16="http://schemas.microsoft.com/office/drawing/2014/main" id="{EACCA09D-3E37-EEBE-DAE1-A8EE1E4B4577}"/>
              </a:ext>
            </a:extLst>
          </p:cNvPr>
          <p:cNvSpPr/>
          <p:nvPr/>
        </p:nvSpPr>
        <p:spPr>
          <a:xfrm>
            <a:off x="7475220" y="1023912"/>
            <a:ext cx="2697480" cy="2039040"/>
          </a:xfrm>
          <a:prstGeom prst="rect">
            <a:avLst/>
          </a:prstGeom>
          <a:solidFill>
            <a:srgbClr val="FFFFFF"/>
          </a:solidFill>
          <a:ln>
            <a:solidFill>
              <a:schemeClr val="tx1"/>
            </a:solidFill>
          </a:ln>
          <a:effectLst>
            <a:outerShdw blurRad="101600" dist="25400" dir="8100000" algn="bl" rotWithShape="0">
              <a:srgbClr val="000000">
                <a:alpha val="12000"/>
              </a:srgbClr>
            </a:outerShdw>
          </a:effectLst>
        </p:spPr>
        <p:txBody>
          <a:bodyPr/>
          <a:lstStyle/>
          <a:p>
            <a:endParaRPr lang="zh-CN" altLang="en-US"/>
          </a:p>
        </p:txBody>
      </p:sp>
      <p:sp>
        <p:nvSpPr>
          <p:cNvPr id="33" name="Shape 15">
            <a:extLst>
              <a:ext uri="{FF2B5EF4-FFF2-40B4-BE49-F238E27FC236}">
                <a16:creationId xmlns:a16="http://schemas.microsoft.com/office/drawing/2014/main" id="{EF78DDAB-A094-1AD8-1EEF-CA95FB68F768}"/>
              </a:ext>
            </a:extLst>
          </p:cNvPr>
          <p:cNvSpPr/>
          <p:nvPr/>
        </p:nvSpPr>
        <p:spPr>
          <a:xfrm>
            <a:off x="7475220" y="1023912"/>
            <a:ext cx="2697480" cy="142340"/>
          </a:xfrm>
          <a:prstGeom prst="rect">
            <a:avLst/>
          </a:prstGeom>
          <a:solidFill>
            <a:srgbClr val="10B981"/>
          </a:solidFill>
          <a:ln/>
        </p:spPr>
        <p:txBody>
          <a:bodyPr/>
          <a:lstStyle/>
          <a:p>
            <a:endParaRPr lang="zh-CN" altLang="en-US"/>
          </a:p>
        </p:txBody>
      </p:sp>
      <p:sp>
        <p:nvSpPr>
          <p:cNvPr id="34" name="Shape 16">
            <a:extLst>
              <a:ext uri="{FF2B5EF4-FFF2-40B4-BE49-F238E27FC236}">
                <a16:creationId xmlns:a16="http://schemas.microsoft.com/office/drawing/2014/main" id="{E00A15EE-5022-58C9-CADB-6FB16A5A74D4}"/>
              </a:ext>
            </a:extLst>
          </p:cNvPr>
          <p:cNvSpPr/>
          <p:nvPr/>
        </p:nvSpPr>
        <p:spPr>
          <a:xfrm>
            <a:off x="7658100" y="1252512"/>
            <a:ext cx="365760" cy="214636"/>
          </a:xfrm>
          <a:prstGeom prst="rect">
            <a:avLst/>
          </a:prstGeom>
          <a:solidFill>
            <a:srgbClr val="10B981"/>
          </a:solidFill>
          <a:ln/>
        </p:spPr>
        <p:txBody>
          <a:bodyPr/>
          <a:lstStyle/>
          <a:p>
            <a:endParaRPr lang="zh-CN" altLang="en-US"/>
          </a:p>
        </p:txBody>
      </p:sp>
      <p:sp>
        <p:nvSpPr>
          <p:cNvPr id="35" name="Text 17">
            <a:extLst>
              <a:ext uri="{FF2B5EF4-FFF2-40B4-BE49-F238E27FC236}">
                <a16:creationId xmlns:a16="http://schemas.microsoft.com/office/drawing/2014/main" id="{678EA259-F7B5-215E-CCA6-FB4B91B9D21E}"/>
              </a:ext>
            </a:extLst>
          </p:cNvPr>
          <p:cNvSpPr/>
          <p:nvPr/>
        </p:nvSpPr>
        <p:spPr>
          <a:xfrm>
            <a:off x="7658100" y="1252512"/>
            <a:ext cx="365760" cy="2146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6" name="Text 18">
            <a:extLst>
              <a:ext uri="{FF2B5EF4-FFF2-40B4-BE49-F238E27FC236}">
                <a16:creationId xmlns:a16="http://schemas.microsoft.com/office/drawing/2014/main" id="{9B455D6E-6ED8-ADE8-95DA-F3501807975A}"/>
              </a:ext>
            </a:extLst>
          </p:cNvPr>
          <p:cNvSpPr/>
          <p:nvPr/>
        </p:nvSpPr>
        <p:spPr>
          <a:xfrm>
            <a:off x="8115300" y="1252512"/>
            <a:ext cx="1874520" cy="214636"/>
          </a:xfrm>
          <a:prstGeom prst="rect">
            <a:avLst/>
          </a:prstGeom>
          <a:noFill/>
          <a:ln/>
        </p:spPr>
        <p:txBody>
          <a:bodyPr wrap="square" lIns="0" tIns="0" rIns="0" bIns="0" rtlCol="0" anchor="ctr"/>
          <a:lstStyle/>
          <a:p>
            <a:pPr marL="0" indent="0">
              <a:buNone/>
            </a:pPr>
            <a:r>
              <a:rPr lang="en-US" b="1" dirty="0">
                <a:solidFill>
                  <a:srgbClr val="0F172A"/>
                </a:solidFill>
                <a:latin typeface="Calibri" pitchFamily="34" charset="0"/>
                <a:ea typeface="Calibri" pitchFamily="34" charset="-122"/>
                <a:cs typeface="Calibri" pitchFamily="34" charset="-120"/>
              </a:rPr>
              <a:t>Allocator</a:t>
            </a:r>
            <a:endParaRPr lang="en-US" sz="1700" dirty="0"/>
          </a:p>
        </p:txBody>
      </p:sp>
      <p:sp>
        <p:nvSpPr>
          <p:cNvPr id="37" name="Text 19">
            <a:extLst>
              <a:ext uri="{FF2B5EF4-FFF2-40B4-BE49-F238E27FC236}">
                <a16:creationId xmlns:a16="http://schemas.microsoft.com/office/drawing/2014/main" id="{21AC4B55-5FDF-CCBC-6347-ECE158364342}"/>
              </a:ext>
            </a:extLst>
          </p:cNvPr>
          <p:cNvSpPr/>
          <p:nvPr/>
        </p:nvSpPr>
        <p:spPr>
          <a:xfrm>
            <a:off x="7658100" y="1552301"/>
            <a:ext cx="2331720" cy="1502451"/>
          </a:xfrm>
          <a:prstGeom prst="rect">
            <a:avLst/>
          </a:prstGeom>
          <a:noFill/>
          <a:ln/>
        </p:spPr>
        <p:txBody>
          <a:bodyPr wrap="square" lIns="0" tIns="0" rIns="0" bIns="0" rtlCol="0" anchor="t"/>
          <a:lstStyle/>
          <a:p>
            <a:pPr marL="0" indent="0">
              <a:lnSpc>
                <a:spcPct val="150000"/>
              </a:lnSpc>
              <a:buNone/>
            </a:pPr>
            <a:r>
              <a:rPr lang="en-US" sz="1200" dirty="0">
                <a:latin typeface="Calibri" pitchFamily="34" charset="0"/>
                <a:ea typeface="Calibri" pitchFamily="34" charset="-122"/>
                <a:cs typeface="Calibri" pitchFamily="34" charset="-120"/>
              </a:rPr>
              <a:t>Aggregates all agent actions</a:t>
            </a:r>
            <a:endParaRPr lang="en-US" sz="1200" dirty="0"/>
          </a:p>
          <a:p>
            <a:pPr marL="0" indent="0">
              <a:lnSpc>
                <a:spcPct val="150000"/>
              </a:lnSpc>
              <a:buNone/>
            </a:pPr>
            <a:r>
              <a:rPr lang="en-US" sz="1200" dirty="0">
                <a:latin typeface="Calibri" pitchFamily="34" charset="0"/>
                <a:ea typeface="Calibri" pitchFamily="34" charset="-122"/>
                <a:cs typeface="Calibri" pitchFamily="34" charset="-120"/>
              </a:rPr>
              <a:t>• Collects released buffer (Shrink)</a:t>
            </a:r>
            <a:endParaRPr lang="en-US" sz="1200" dirty="0"/>
          </a:p>
          <a:p>
            <a:pPr marL="0" indent="0">
              <a:lnSpc>
                <a:spcPct val="150000"/>
              </a:lnSpc>
              <a:buNone/>
            </a:pPr>
            <a:r>
              <a:rPr lang="en-US" sz="1200" dirty="0">
                <a:latin typeface="Calibri" pitchFamily="34" charset="0"/>
                <a:ea typeface="Calibri" pitchFamily="34" charset="-122"/>
                <a:cs typeface="Calibri" pitchFamily="34" charset="-120"/>
              </a:rPr>
              <a:t>• Redistributes to Grow agents</a:t>
            </a:r>
            <a:endParaRPr lang="en-US" sz="1200" dirty="0"/>
          </a:p>
          <a:p>
            <a:pPr marL="0" indent="0">
              <a:lnSpc>
                <a:spcPct val="150000"/>
              </a:lnSpc>
              <a:buNone/>
            </a:pPr>
            <a:r>
              <a:rPr lang="en-US" sz="1200" dirty="0">
                <a:latin typeface="Calibri" pitchFamily="34" charset="0"/>
                <a:ea typeface="Calibri" pitchFamily="34" charset="-122"/>
                <a:cs typeface="Calibri" pitchFamily="34" charset="-120"/>
              </a:rPr>
              <a:t>• Generates reallocation action</a:t>
            </a:r>
            <a:endParaRPr lang="en-US" sz="1200" dirty="0"/>
          </a:p>
        </p:txBody>
      </p:sp>
      <p:sp>
        <p:nvSpPr>
          <p:cNvPr id="39" name="Text 21">
            <a:extLst>
              <a:ext uri="{FF2B5EF4-FFF2-40B4-BE49-F238E27FC236}">
                <a16:creationId xmlns:a16="http://schemas.microsoft.com/office/drawing/2014/main" id="{7F678130-06BF-ABB8-6543-1557F2636897}"/>
              </a:ext>
            </a:extLst>
          </p:cNvPr>
          <p:cNvSpPr/>
          <p:nvPr/>
        </p:nvSpPr>
        <p:spPr>
          <a:xfrm>
            <a:off x="7200900" y="2761272"/>
            <a:ext cx="274320" cy="214636"/>
          </a:xfrm>
          <a:prstGeom prst="rect">
            <a:avLst/>
          </a:prstGeom>
          <a:noFill/>
          <a:ln/>
        </p:spPr>
        <p:txBody>
          <a:bodyPr wrap="square" lIns="0" tIns="0" rIns="0" bIns="0" rtlCol="0" anchor="ctr"/>
          <a:lstStyle/>
          <a:p>
            <a:pPr marL="0" indent="0" algn="ctr">
              <a:buNone/>
            </a:pPr>
            <a:endParaRPr lang="en-US" sz="2200" dirty="0"/>
          </a:p>
        </p:txBody>
      </p:sp>
      <p:cxnSp>
        <p:nvCxnSpPr>
          <p:cNvPr id="5" name="直接连接符 4">
            <a:extLst>
              <a:ext uri="{FF2B5EF4-FFF2-40B4-BE49-F238E27FC236}">
                <a16:creationId xmlns:a16="http://schemas.microsoft.com/office/drawing/2014/main" id="{75660449-5D1B-31AA-89CD-67EFF6E585F5}"/>
              </a:ext>
            </a:extLst>
          </p:cNvPr>
          <p:cNvCxnSpPr>
            <a:cxnSpLocks/>
          </p:cNvCxnSpPr>
          <p:nvPr/>
        </p:nvCxnSpPr>
        <p:spPr>
          <a:xfrm flipH="1" flipV="1">
            <a:off x="1714500" y="3062952"/>
            <a:ext cx="795497" cy="45349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直接连接符 6">
            <a:extLst>
              <a:ext uri="{FF2B5EF4-FFF2-40B4-BE49-F238E27FC236}">
                <a16:creationId xmlns:a16="http://schemas.microsoft.com/office/drawing/2014/main" id="{6AD9D5AD-1834-EB15-EC27-0412B65D0C2A}"/>
              </a:ext>
            </a:extLst>
          </p:cNvPr>
          <p:cNvCxnSpPr/>
          <p:nvPr/>
        </p:nvCxnSpPr>
        <p:spPr>
          <a:xfrm flipV="1">
            <a:off x="4081047" y="3062952"/>
            <a:ext cx="330933" cy="45349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直接连接符 9">
            <a:extLst>
              <a:ext uri="{FF2B5EF4-FFF2-40B4-BE49-F238E27FC236}">
                <a16:creationId xmlns:a16="http://schemas.microsoft.com/office/drawing/2014/main" id="{1E50648C-9C0F-9C6B-137D-068D91C6E00F}"/>
              </a:ext>
            </a:extLst>
          </p:cNvPr>
          <p:cNvCxnSpPr/>
          <p:nvPr/>
        </p:nvCxnSpPr>
        <p:spPr>
          <a:xfrm flipH="1" flipV="1">
            <a:off x="4594860" y="3062952"/>
            <a:ext cx="182880" cy="521005"/>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直接连接符 10">
            <a:extLst>
              <a:ext uri="{FF2B5EF4-FFF2-40B4-BE49-F238E27FC236}">
                <a16:creationId xmlns:a16="http://schemas.microsoft.com/office/drawing/2014/main" id="{9B5071D0-000F-6873-7945-2FEFDB70002F}"/>
              </a:ext>
            </a:extLst>
          </p:cNvPr>
          <p:cNvCxnSpPr>
            <a:cxnSpLocks/>
          </p:cNvCxnSpPr>
          <p:nvPr/>
        </p:nvCxnSpPr>
        <p:spPr>
          <a:xfrm flipV="1">
            <a:off x="6020311" y="3085313"/>
            <a:ext cx="1272029" cy="49864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连接符 15">
            <a:extLst>
              <a:ext uri="{FF2B5EF4-FFF2-40B4-BE49-F238E27FC236}">
                <a16:creationId xmlns:a16="http://schemas.microsoft.com/office/drawing/2014/main" id="{3F8017AF-915E-2C59-A058-2B30128F29CD}"/>
              </a:ext>
            </a:extLst>
          </p:cNvPr>
          <p:cNvCxnSpPr/>
          <p:nvPr/>
        </p:nvCxnSpPr>
        <p:spPr>
          <a:xfrm flipV="1">
            <a:off x="9481530" y="3062952"/>
            <a:ext cx="691170" cy="521005"/>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直接连接符 18">
            <a:extLst>
              <a:ext uri="{FF2B5EF4-FFF2-40B4-BE49-F238E27FC236}">
                <a16:creationId xmlns:a16="http://schemas.microsoft.com/office/drawing/2014/main" id="{978FDECA-86B4-DB03-D46C-A57A9BC0DE17}"/>
              </a:ext>
            </a:extLst>
          </p:cNvPr>
          <p:cNvCxnSpPr>
            <a:cxnSpLocks/>
          </p:cNvCxnSpPr>
          <p:nvPr/>
        </p:nvCxnSpPr>
        <p:spPr>
          <a:xfrm flipV="1">
            <a:off x="6701509" y="3062952"/>
            <a:ext cx="773711" cy="521005"/>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defRPr sz="3200" b="1">
                <a:solidFill>
                  <a:srgbClr val="FFFFFF"/>
                </a:solidFill>
                <a:latin typeface="Calibri"/>
              </a:defRPr>
            </a:pPr>
            <a:r>
              <a:t>RL Agent Design</a:t>
            </a:r>
          </a:p>
        </p:txBody>
      </p:sp>
      <p:sp>
        <p:nvSpPr>
          <p:cNvPr id="4" name="Rectangle 3"/>
          <p:cNvSpPr/>
          <p:nvPr/>
        </p:nvSpPr>
        <p:spPr>
          <a:xfrm>
            <a:off x="457200" y="1828800"/>
            <a:ext cx="3566160" cy="4025900"/>
          </a:xfrm>
          <a:prstGeom prst="rect">
            <a:avLst/>
          </a:prstGeom>
          <a:solidFill>
            <a:srgbClr val="F5F5F5"/>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457200" y="2468880"/>
            <a:ext cx="3566160" cy="3046988"/>
          </a:xfrm>
          <a:prstGeom prst="rect">
            <a:avLst/>
          </a:prstGeom>
          <a:noFill/>
        </p:spPr>
        <p:txBody>
          <a:bodyPr wrap="square">
            <a:spAutoFit/>
          </a:bodyPr>
          <a:lstStyle/>
          <a:p>
            <a:pPr marL="285750" indent="-285750" algn="l">
              <a:buFont typeface="Wingdings" panose="05000000000000000000" pitchFamily="2" charset="2"/>
              <a:buChar char="Ø"/>
              <a:defRPr sz="1400" b="0">
                <a:solidFill>
                  <a:srgbClr val="333333"/>
                </a:solidFill>
                <a:latin typeface="Calibri"/>
              </a:defRPr>
            </a:pPr>
            <a:r>
              <a:rPr sz="1600" b="1" dirty="0"/>
              <a:t>Avg SLAₜ / SLAᵢₜ: </a:t>
            </a:r>
            <a:r>
              <a:rPr sz="1600" dirty="0"/>
              <a:t>System-wide &amp; per-tenant SLA cost</a:t>
            </a:r>
            <a:endParaRPr lang="en-US" sz="1600" dirty="0"/>
          </a:p>
          <a:p>
            <a:pPr marL="285750" indent="-285750" algn="l">
              <a:buFont typeface="Wingdings" panose="05000000000000000000" pitchFamily="2" charset="2"/>
              <a:buChar char="Ø"/>
              <a:defRPr sz="1400" b="0">
                <a:solidFill>
                  <a:srgbClr val="333333"/>
                </a:solidFill>
                <a:latin typeface="Calibri"/>
              </a:defRPr>
            </a:pPr>
            <a:r>
              <a:rPr sz="1600" b="1" dirty="0"/>
              <a:t>Avg RPₜ / RPᵢₜ: </a:t>
            </a:r>
            <a:r>
              <a:rPr sz="1600" dirty="0"/>
              <a:t>Ratio of promised vs actual buffer</a:t>
            </a:r>
            <a:endParaRPr lang="en-US" sz="1600" dirty="0"/>
          </a:p>
          <a:p>
            <a:pPr marL="285750" indent="-285750" algn="l">
              <a:buFont typeface="Wingdings" panose="05000000000000000000" pitchFamily="2" charset="2"/>
              <a:buChar char="Ø"/>
              <a:defRPr sz="1400" b="0">
                <a:solidFill>
                  <a:srgbClr val="333333"/>
                </a:solidFill>
                <a:latin typeface="Calibri"/>
              </a:defRPr>
            </a:pPr>
            <a:r>
              <a:rPr sz="1600" b="1" dirty="0"/>
              <a:t>Sizeᵢₜ: </a:t>
            </a:r>
            <a:r>
              <a:rPr sz="1600" dirty="0"/>
              <a:t>Tenant's buffer proportion</a:t>
            </a:r>
            <a:endParaRPr lang="en-US" sz="1600" dirty="0"/>
          </a:p>
          <a:p>
            <a:pPr marL="285750" indent="-285750" algn="l">
              <a:buFont typeface="Wingdings" panose="05000000000000000000" pitchFamily="2" charset="2"/>
              <a:buChar char="Ø"/>
              <a:defRPr sz="1400" b="0">
                <a:solidFill>
                  <a:srgbClr val="333333"/>
                </a:solidFill>
                <a:latin typeface="Calibri"/>
              </a:defRPr>
            </a:pPr>
            <a:r>
              <a:rPr sz="1600" b="1" dirty="0"/>
              <a:t>Reqᵢₜ: </a:t>
            </a:r>
            <a:r>
              <a:rPr sz="1600" dirty="0"/>
              <a:t>Tenant's request proportion</a:t>
            </a:r>
            <a:endParaRPr lang="en-US" sz="1600" dirty="0"/>
          </a:p>
          <a:p>
            <a:pPr algn="l">
              <a:defRPr sz="1400" b="0">
                <a:solidFill>
                  <a:srgbClr val="333333"/>
                </a:solidFill>
                <a:latin typeface="Calibri"/>
              </a:defRPr>
            </a:pPr>
            <a:endParaRPr lang="en-US" sz="1600" dirty="0"/>
          </a:p>
          <a:p>
            <a:pPr algn="l">
              <a:defRPr sz="1400" b="0">
                <a:solidFill>
                  <a:srgbClr val="333333"/>
                </a:solidFill>
                <a:latin typeface="Calibri"/>
              </a:defRPr>
            </a:pPr>
            <a:endParaRPr lang="en-US" sz="1600" dirty="0"/>
          </a:p>
          <a:p>
            <a:pPr algn="l">
              <a:defRPr sz="1400" b="0">
                <a:solidFill>
                  <a:srgbClr val="333333"/>
                </a:solidFill>
                <a:latin typeface="Calibri"/>
              </a:defRPr>
            </a:pPr>
            <a:endParaRPr lang="en-US" sz="1600" dirty="0"/>
          </a:p>
          <a:p>
            <a:pPr algn="l">
              <a:defRPr sz="1400" b="0">
                <a:solidFill>
                  <a:srgbClr val="333333"/>
                </a:solidFill>
                <a:latin typeface="Calibri"/>
              </a:defRPr>
            </a:pPr>
            <a:endParaRPr lang="en-US" sz="1600" dirty="0"/>
          </a:p>
          <a:p>
            <a:pPr>
              <a:defRPr sz="1400" b="0">
                <a:solidFill>
                  <a:srgbClr val="333333"/>
                </a:solidFill>
                <a:latin typeface="Calibri"/>
              </a:defRPr>
            </a:pPr>
            <a:endParaRPr lang="en-US" sz="1600" dirty="0"/>
          </a:p>
          <a:p>
            <a:pPr algn="ctr">
              <a:defRPr sz="1400" b="0">
                <a:solidFill>
                  <a:srgbClr val="333333"/>
                </a:solidFill>
                <a:latin typeface="Calibri"/>
              </a:defRPr>
            </a:pPr>
            <a:r>
              <a:rPr lang="en-US" sz="1600" b="1" dirty="0"/>
              <a:t>Tenant-level &amp; System-wide Statistics</a:t>
            </a:r>
            <a:endParaRPr sz="1600" b="1" dirty="0"/>
          </a:p>
        </p:txBody>
      </p:sp>
      <p:sp>
        <p:nvSpPr>
          <p:cNvPr id="8" name="Rectangle 7"/>
          <p:cNvSpPr/>
          <p:nvPr/>
        </p:nvSpPr>
        <p:spPr>
          <a:xfrm>
            <a:off x="4297680" y="1828800"/>
            <a:ext cx="3566160" cy="4025900"/>
          </a:xfrm>
          <a:prstGeom prst="rect">
            <a:avLst/>
          </a:prstGeom>
          <a:solidFill>
            <a:srgbClr val="F5F5F5"/>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TextBox 10"/>
          <p:cNvSpPr txBox="1"/>
          <p:nvPr/>
        </p:nvSpPr>
        <p:spPr>
          <a:xfrm>
            <a:off x="4297680" y="2468880"/>
            <a:ext cx="3566160" cy="3046988"/>
          </a:xfrm>
          <a:prstGeom prst="rect">
            <a:avLst/>
          </a:prstGeom>
          <a:noFill/>
        </p:spPr>
        <p:txBody>
          <a:bodyPr wrap="square">
            <a:spAutoFit/>
          </a:bodyPr>
          <a:lstStyle/>
          <a:p>
            <a:pPr marL="285750" indent="-285750" algn="l">
              <a:buFont typeface="Wingdings" panose="05000000000000000000" pitchFamily="2" charset="2"/>
              <a:buChar char="Ø"/>
              <a:defRPr sz="1400" b="0">
                <a:solidFill>
                  <a:srgbClr val="333333"/>
                </a:solidFill>
                <a:latin typeface="Calibri"/>
              </a:defRPr>
            </a:pPr>
            <a:r>
              <a:rPr sz="1600" b="1" i="1" dirty="0"/>
              <a:t>Grow</a:t>
            </a:r>
            <a:r>
              <a:rPr sz="1600" b="1" dirty="0"/>
              <a:t>:</a:t>
            </a:r>
            <a:r>
              <a:rPr sz="1600" dirty="0"/>
              <a:t> Request additional buffer</a:t>
            </a:r>
            <a:endParaRPr lang="en-US" sz="1600" dirty="0"/>
          </a:p>
          <a:p>
            <a:pPr marL="285750" indent="-285750" algn="l">
              <a:buFont typeface="Wingdings" panose="05000000000000000000" pitchFamily="2" charset="2"/>
              <a:buChar char="Ø"/>
              <a:defRPr sz="1400" b="0">
                <a:solidFill>
                  <a:srgbClr val="333333"/>
                </a:solidFill>
                <a:latin typeface="Calibri"/>
              </a:defRPr>
            </a:pPr>
            <a:r>
              <a:rPr sz="1600" b="1" i="1" dirty="0"/>
              <a:t>Shrink</a:t>
            </a:r>
            <a:r>
              <a:rPr sz="1600" b="1" dirty="0"/>
              <a:t>:</a:t>
            </a:r>
            <a:r>
              <a:rPr sz="1600" dirty="0"/>
              <a:t> Release allocated buffer</a:t>
            </a:r>
            <a:endParaRPr lang="en-US" sz="1600" dirty="0"/>
          </a:p>
          <a:p>
            <a:pPr marL="285750" indent="-285750" algn="l">
              <a:buFont typeface="Wingdings" panose="05000000000000000000" pitchFamily="2" charset="2"/>
              <a:buChar char="Ø"/>
              <a:defRPr sz="1400" b="0">
                <a:solidFill>
                  <a:srgbClr val="333333"/>
                </a:solidFill>
                <a:latin typeface="Calibri"/>
              </a:defRPr>
            </a:pPr>
            <a:endParaRPr lang="en-US" sz="1600" b="1" dirty="0"/>
          </a:p>
          <a:p>
            <a:pPr marL="285750" indent="-285750" algn="l">
              <a:buFont typeface="Wingdings" panose="05000000000000000000" pitchFamily="2" charset="2"/>
              <a:buChar char="Ø"/>
              <a:defRPr sz="1400" b="0">
                <a:solidFill>
                  <a:srgbClr val="333333"/>
                </a:solidFill>
                <a:latin typeface="Calibri"/>
              </a:defRPr>
            </a:pPr>
            <a:r>
              <a:rPr sz="1600" b="1" dirty="0"/>
              <a:t>Adjustment unit Gᵢ:</a:t>
            </a:r>
            <a:endParaRPr lang="en-US" sz="1600" dirty="0"/>
          </a:p>
          <a:p>
            <a:pPr algn="ctr">
              <a:defRPr sz="1400" b="0">
                <a:solidFill>
                  <a:srgbClr val="333333"/>
                </a:solidFill>
                <a:latin typeface="Calibri"/>
              </a:defRPr>
            </a:pPr>
            <a:r>
              <a:rPr lang="en-US" sz="1600" dirty="0"/>
              <a:t>A = </a:t>
            </a:r>
            <a:r>
              <a:rPr lang="en-US" altLang="zh-CN" sz="1600" dirty="0"/>
              <a:t>Σ Actual Buffer / Σ Promised Buffer </a:t>
            </a:r>
            <a:br>
              <a:rPr sz="1600" dirty="0"/>
            </a:br>
            <a:r>
              <a:rPr sz="1600" b="1" dirty="0"/>
              <a:t>Gᵢ = </a:t>
            </a:r>
            <a:r>
              <a:rPr lang="en-US" sz="1600" b="1" dirty="0"/>
              <a:t>A </a:t>
            </a:r>
            <a:r>
              <a:rPr sz="1600" b="1" dirty="0"/>
              <a:t>× Promisedᵢ × 3%</a:t>
            </a:r>
            <a:br>
              <a:rPr sz="1600" b="1" dirty="0"/>
            </a:br>
            <a:endParaRPr lang="en-US" sz="1600" b="1" dirty="0"/>
          </a:p>
          <a:p>
            <a:pPr algn="l">
              <a:defRPr sz="1400" b="0">
                <a:solidFill>
                  <a:srgbClr val="333333"/>
                </a:solidFill>
                <a:latin typeface="Calibri"/>
              </a:defRPr>
            </a:pPr>
            <a:endParaRPr lang="en-US" sz="1600" dirty="0"/>
          </a:p>
          <a:p>
            <a:pPr algn="l">
              <a:defRPr sz="1400" b="0">
                <a:solidFill>
                  <a:srgbClr val="333333"/>
                </a:solidFill>
                <a:latin typeface="Calibri"/>
              </a:defRPr>
            </a:pPr>
            <a:endParaRPr lang="en-US" sz="1600" dirty="0"/>
          </a:p>
          <a:p>
            <a:pPr algn="l">
              <a:defRPr sz="1400" b="0">
                <a:solidFill>
                  <a:srgbClr val="333333"/>
                </a:solidFill>
                <a:latin typeface="Calibri"/>
              </a:defRPr>
            </a:pPr>
            <a:endParaRPr lang="en-US" sz="1600" dirty="0"/>
          </a:p>
          <a:p>
            <a:pPr algn="l">
              <a:defRPr sz="1400" b="0">
                <a:solidFill>
                  <a:srgbClr val="333333"/>
                </a:solidFill>
                <a:latin typeface="Calibri"/>
              </a:defRPr>
            </a:pPr>
            <a:endParaRPr lang="en-US" sz="1600" b="1" dirty="0"/>
          </a:p>
          <a:p>
            <a:pPr algn="ctr">
              <a:defRPr sz="1400" b="0">
                <a:solidFill>
                  <a:srgbClr val="333333"/>
                </a:solidFill>
                <a:latin typeface="Calibri"/>
              </a:defRPr>
            </a:pPr>
            <a:r>
              <a:rPr sz="1600" b="1" dirty="0"/>
              <a:t>Prevents aggressive/negligible changes</a:t>
            </a:r>
          </a:p>
        </p:txBody>
      </p:sp>
      <p:sp>
        <p:nvSpPr>
          <p:cNvPr id="12" name="Rectangle 11"/>
          <p:cNvSpPr/>
          <p:nvPr/>
        </p:nvSpPr>
        <p:spPr>
          <a:xfrm>
            <a:off x="8138160" y="1828800"/>
            <a:ext cx="3566160" cy="4025900"/>
          </a:xfrm>
          <a:prstGeom prst="rect">
            <a:avLst/>
          </a:prstGeom>
          <a:solidFill>
            <a:srgbClr val="F5F5F5"/>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Shape 3">
            <a:extLst>
              <a:ext uri="{FF2B5EF4-FFF2-40B4-BE49-F238E27FC236}">
                <a16:creationId xmlns:a16="http://schemas.microsoft.com/office/drawing/2014/main" id="{01EBB7CB-9EC7-7EE0-91B1-617ABE36846C}"/>
              </a:ext>
            </a:extLst>
          </p:cNvPr>
          <p:cNvSpPr/>
          <p:nvPr/>
        </p:nvSpPr>
        <p:spPr>
          <a:xfrm>
            <a:off x="457200" y="1828800"/>
            <a:ext cx="3566160" cy="433948"/>
          </a:xfrm>
          <a:prstGeom prst="rect">
            <a:avLst/>
          </a:prstGeom>
          <a:solidFill>
            <a:srgbClr val="0891B2"/>
          </a:solidFill>
          <a:ln>
            <a:solidFill>
              <a:schemeClr val="tx1"/>
            </a:solidFill>
          </a:ln>
        </p:spPr>
        <p:txBody>
          <a:bodyPr/>
          <a:lstStyle/>
          <a:p>
            <a:endParaRPr lang="zh-CN" altLang="en-US"/>
          </a:p>
        </p:txBody>
      </p:sp>
      <p:sp>
        <p:nvSpPr>
          <p:cNvPr id="15" name="TextBox 14"/>
          <p:cNvSpPr txBox="1"/>
          <p:nvPr/>
        </p:nvSpPr>
        <p:spPr>
          <a:xfrm>
            <a:off x="8138160" y="2468880"/>
            <a:ext cx="3566160" cy="3046988"/>
          </a:xfrm>
          <a:prstGeom prst="rect">
            <a:avLst/>
          </a:prstGeom>
          <a:noFill/>
        </p:spPr>
        <p:txBody>
          <a:bodyPr wrap="square">
            <a:spAutoFit/>
          </a:bodyPr>
          <a:lstStyle/>
          <a:p>
            <a:pPr marL="285750" indent="-285750">
              <a:buFont typeface="Wingdings" panose="05000000000000000000" pitchFamily="2" charset="2"/>
              <a:buChar char="Ø"/>
              <a:defRPr sz="1400" b="0">
                <a:solidFill>
                  <a:srgbClr val="333333"/>
                </a:solidFill>
                <a:latin typeface="Calibri"/>
              </a:defRPr>
            </a:pPr>
            <a:r>
              <a:rPr lang="en-US" sz="1600" b="1" dirty="0"/>
              <a:t>R</a:t>
            </a:r>
            <a:r>
              <a:rPr sz="1600" b="1" dirty="0"/>
              <a:t>ewardᵢ =</a:t>
            </a:r>
            <a:r>
              <a:rPr lang="en-US" sz="1600" b="1" dirty="0"/>
              <a:t> S1 + S2</a:t>
            </a:r>
          </a:p>
          <a:p>
            <a:pPr marL="285750" indent="-285750">
              <a:buFont typeface="Wingdings" panose="05000000000000000000" pitchFamily="2" charset="2"/>
              <a:buChar char="Ø"/>
              <a:defRPr sz="1400" b="0">
                <a:solidFill>
                  <a:srgbClr val="333333"/>
                </a:solidFill>
                <a:latin typeface="Calibri"/>
              </a:defRPr>
            </a:pPr>
            <a:endParaRPr lang="en-US" sz="1600" b="1" dirty="0"/>
          </a:p>
          <a:p>
            <a:pPr marL="285750" indent="-285750">
              <a:buFont typeface="Wingdings" panose="05000000000000000000" pitchFamily="2" charset="2"/>
              <a:buChar char="Ø"/>
              <a:defRPr sz="1400" b="0">
                <a:solidFill>
                  <a:srgbClr val="333333"/>
                </a:solidFill>
                <a:latin typeface="Calibri"/>
              </a:defRPr>
            </a:pPr>
            <a:r>
              <a:rPr lang="en-US" altLang="zh-CN" sz="1600" b="1" dirty="0"/>
              <a:t>S1: Self SLA Reduction:</a:t>
            </a:r>
          </a:p>
          <a:p>
            <a:pPr marL="742950" lvl="1" indent="-285750">
              <a:buFont typeface="Wingdings" panose="05000000000000000000" pitchFamily="2" charset="2"/>
              <a:buChar char="Ø"/>
              <a:defRPr sz="1400" b="0">
                <a:solidFill>
                  <a:srgbClr val="333333"/>
                </a:solidFill>
                <a:latin typeface="Calibri"/>
              </a:defRPr>
            </a:pPr>
            <a:r>
              <a:rPr lang="en-US" altLang="zh-CN" sz="1600" dirty="0"/>
              <a:t>- </a:t>
            </a:r>
            <a:r>
              <a:rPr lang="el-GR" altLang="zh-CN" sz="1600" dirty="0"/>
              <a:t>Δ</a:t>
            </a:r>
            <a:r>
              <a:rPr lang="en-US" altLang="zh-CN" sz="1600" dirty="0"/>
              <a:t>SLA Costᵢ</a:t>
            </a:r>
          </a:p>
          <a:p>
            <a:pPr marL="742950" lvl="1" indent="-285750">
              <a:buFont typeface="Wingdings" panose="05000000000000000000" pitchFamily="2" charset="2"/>
              <a:buChar char="Ø"/>
              <a:defRPr sz="1400" b="0">
                <a:solidFill>
                  <a:srgbClr val="333333"/>
                </a:solidFill>
                <a:latin typeface="Calibri"/>
              </a:defRPr>
            </a:pPr>
            <a:endParaRPr lang="en-US" sz="1600" dirty="0"/>
          </a:p>
          <a:p>
            <a:pPr marL="285750" indent="-285750">
              <a:buFont typeface="Wingdings" panose="05000000000000000000" pitchFamily="2" charset="2"/>
              <a:buChar char="Ø"/>
              <a:defRPr sz="1400" b="0">
                <a:solidFill>
                  <a:srgbClr val="333333"/>
                </a:solidFill>
                <a:latin typeface="Calibri"/>
              </a:defRPr>
            </a:pPr>
            <a:r>
              <a:rPr lang="en-US" altLang="zh-CN" sz="1600" b="1" dirty="0"/>
              <a:t>S2: Contribution to other tenants:</a:t>
            </a:r>
          </a:p>
          <a:p>
            <a:pPr marL="742950" lvl="1" indent="-285750">
              <a:buFont typeface="Wingdings" panose="05000000000000000000" pitchFamily="2" charset="2"/>
              <a:buChar char="Ø"/>
              <a:defRPr sz="1400" b="0">
                <a:solidFill>
                  <a:srgbClr val="333333"/>
                </a:solidFill>
                <a:latin typeface="Calibri"/>
              </a:defRPr>
            </a:pPr>
            <a:r>
              <a:rPr lang="en-US" sz="1600" dirty="0"/>
              <a:t>- </a:t>
            </a:r>
            <a:r>
              <a:rPr lang="el-GR" altLang="zh-CN" sz="1600" dirty="0"/>
              <a:t>Σ</a:t>
            </a:r>
            <a:r>
              <a:rPr lang="en-US" altLang="zh-CN" sz="1600" dirty="0"/>
              <a:t>Rⱼ · </a:t>
            </a:r>
            <a:r>
              <a:rPr lang="el-GR" altLang="zh-CN" sz="1600" dirty="0"/>
              <a:t>Δ</a:t>
            </a:r>
            <a:r>
              <a:rPr lang="en-US" altLang="zh-CN" sz="1600" dirty="0"/>
              <a:t>SLA Costⱼ</a:t>
            </a:r>
            <a:br>
              <a:rPr sz="1600" dirty="0"/>
            </a:br>
            <a:endParaRPr lang="en-US" sz="1600" dirty="0"/>
          </a:p>
          <a:p>
            <a:pPr>
              <a:defRPr sz="1400" b="0">
                <a:solidFill>
                  <a:srgbClr val="333333"/>
                </a:solidFill>
                <a:latin typeface="Calibri"/>
              </a:defRPr>
            </a:pPr>
            <a:endParaRPr lang="en-US" sz="1600" dirty="0"/>
          </a:p>
          <a:p>
            <a:pPr>
              <a:defRPr sz="1400" b="0">
                <a:solidFill>
                  <a:srgbClr val="333333"/>
                </a:solidFill>
                <a:latin typeface="Calibri"/>
              </a:defRPr>
            </a:pPr>
            <a:endParaRPr lang="en-US" sz="1600" dirty="0"/>
          </a:p>
          <a:p>
            <a:pPr>
              <a:defRPr sz="1400" b="0">
                <a:solidFill>
                  <a:srgbClr val="333333"/>
                </a:solidFill>
                <a:latin typeface="Calibri"/>
              </a:defRPr>
            </a:pPr>
            <a:endParaRPr lang="en-US" sz="1600" dirty="0"/>
          </a:p>
          <a:p>
            <a:pPr algn="ctr">
              <a:defRPr sz="1400" b="0">
                <a:solidFill>
                  <a:srgbClr val="333333"/>
                </a:solidFill>
                <a:latin typeface="Calibri"/>
              </a:defRPr>
            </a:pPr>
            <a:r>
              <a:rPr lang="en-US" sz="1600" b="1" dirty="0"/>
              <a:t>M</a:t>
            </a:r>
            <a:r>
              <a:rPr sz="1600" b="1" dirty="0"/>
              <a:t>inimizes </a:t>
            </a:r>
            <a:r>
              <a:rPr lang="en-US" sz="1600" b="1" dirty="0"/>
              <a:t>overall</a:t>
            </a:r>
            <a:r>
              <a:rPr sz="1600" b="1" dirty="0"/>
              <a:t> SLA cost</a:t>
            </a:r>
          </a:p>
        </p:txBody>
      </p:sp>
      <p:sp>
        <p:nvSpPr>
          <p:cNvPr id="6" name="TextBox 5"/>
          <p:cNvSpPr txBox="1"/>
          <p:nvPr/>
        </p:nvSpPr>
        <p:spPr>
          <a:xfrm>
            <a:off x="640080" y="1828800"/>
            <a:ext cx="3200400" cy="384721"/>
          </a:xfrm>
          <a:prstGeom prst="rect">
            <a:avLst/>
          </a:prstGeom>
          <a:noFill/>
        </p:spPr>
        <p:txBody>
          <a:bodyPr wrap="square">
            <a:spAutoFit/>
          </a:bodyPr>
          <a:lstStyle/>
          <a:p>
            <a:pPr algn="ctr">
              <a:defRPr sz="1900" b="1">
                <a:solidFill>
                  <a:srgbClr val="FFFFFF"/>
                </a:solidFill>
                <a:latin typeface="Calibri"/>
              </a:defRPr>
            </a:pPr>
            <a:r>
              <a:rPr dirty="0"/>
              <a:t>State</a:t>
            </a:r>
          </a:p>
        </p:txBody>
      </p:sp>
      <p:sp>
        <p:nvSpPr>
          <p:cNvPr id="18" name="Shape 9">
            <a:extLst>
              <a:ext uri="{FF2B5EF4-FFF2-40B4-BE49-F238E27FC236}">
                <a16:creationId xmlns:a16="http://schemas.microsoft.com/office/drawing/2014/main" id="{5D8ED531-7101-39C8-E0C1-EC8369663772}"/>
              </a:ext>
            </a:extLst>
          </p:cNvPr>
          <p:cNvSpPr/>
          <p:nvPr/>
        </p:nvSpPr>
        <p:spPr>
          <a:xfrm>
            <a:off x="4297680" y="1828800"/>
            <a:ext cx="3566160" cy="433948"/>
          </a:xfrm>
          <a:prstGeom prst="rect">
            <a:avLst/>
          </a:prstGeom>
          <a:solidFill>
            <a:srgbClr val="F79646"/>
          </a:solidFill>
          <a:ln>
            <a:solidFill>
              <a:schemeClr val="tx1"/>
            </a:solidFill>
          </a:ln>
        </p:spPr>
        <p:txBody>
          <a:bodyPr/>
          <a:lstStyle/>
          <a:p>
            <a:endParaRPr lang="zh-CN" altLang="en-US"/>
          </a:p>
        </p:txBody>
      </p:sp>
      <p:sp>
        <p:nvSpPr>
          <p:cNvPr id="10" name="TextBox 9"/>
          <p:cNvSpPr txBox="1"/>
          <p:nvPr/>
        </p:nvSpPr>
        <p:spPr>
          <a:xfrm>
            <a:off x="4480560" y="1828800"/>
            <a:ext cx="3200400" cy="384721"/>
          </a:xfrm>
          <a:prstGeom prst="rect">
            <a:avLst/>
          </a:prstGeom>
          <a:noFill/>
        </p:spPr>
        <p:txBody>
          <a:bodyPr wrap="square">
            <a:spAutoFit/>
          </a:bodyPr>
          <a:lstStyle/>
          <a:p>
            <a:pPr algn="ctr">
              <a:defRPr sz="1900" b="1">
                <a:solidFill>
                  <a:srgbClr val="FFFFFF"/>
                </a:solidFill>
                <a:latin typeface="Calibri"/>
              </a:defRPr>
            </a:pPr>
            <a:r>
              <a:rPr dirty="0"/>
              <a:t>Actions</a:t>
            </a:r>
          </a:p>
        </p:txBody>
      </p:sp>
      <p:sp>
        <p:nvSpPr>
          <p:cNvPr id="19" name="Shape 15">
            <a:extLst>
              <a:ext uri="{FF2B5EF4-FFF2-40B4-BE49-F238E27FC236}">
                <a16:creationId xmlns:a16="http://schemas.microsoft.com/office/drawing/2014/main" id="{DB535093-37E9-5828-16FE-69624A219ECD}"/>
              </a:ext>
            </a:extLst>
          </p:cNvPr>
          <p:cNvSpPr/>
          <p:nvPr/>
        </p:nvSpPr>
        <p:spPr>
          <a:xfrm>
            <a:off x="8138160" y="1828800"/>
            <a:ext cx="3566160" cy="417670"/>
          </a:xfrm>
          <a:prstGeom prst="rect">
            <a:avLst/>
          </a:prstGeom>
          <a:solidFill>
            <a:srgbClr val="10B981"/>
          </a:solidFill>
          <a:ln>
            <a:solidFill>
              <a:schemeClr val="tx1"/>
            </a:solidFill>
          </a:ln>
        </p:spPr>
        <p:txBody>
          <a:bodyPr/>
          <a:lstStyle/>
          <a:p>
            <a:endParaRPr lang="zh-CN" altLang="en-US"/>
          </a:p>
        </p:txBody>
      </p:sp>
      <p:sp>
        <p:nvSpPr>
          <p:cNvPr id="14" name="TextBox 13"/>
          <p:cNvSpPr txBox="1"/>
          <p:nvPr/>
        </p:nvSpPr>
        <p:spPr>
          <a:xfrm>
            <a:off x="8321040" y="1828800"/>
            <a:ext cx="3383280" cy="384721"/>
          </a:xfrm>
          <a:prstGeom prst="rect">
            <a:avLst/>
          </a:prstGeom>
          <a:noFill/>
        </p:spPr>
        <p:txBody>
          <a:bodyPr wrap="square">
            <a:spAutoFit/>
          </a:bodyPr>
          <a:lstStyle/>
          <a:p>
            <a:pPr algn="ctr">
              <a:defRPr sz="1900" b="1">
                <a:solidFill>
                  <a:srgbClr val="FFFFFF"/>
                </a:solidFill>
                <a:latin typeface="Calibri"/>
              </a:defRPr>
            </a:pPr>
            <a:r>
              <a:rPr dirty="0"/>
              <a:t>Reward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7FA5E88-5F0D-266A-C589-2C7D8746FA5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9F38944-B005-ABEB-C981-9BF0EC0D222C}"/>
              </a:ext>
            </a:extLst>
          </p:cNvPr>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19AFBA2-C54F-FFCC-FCAF-2B2682186060}"/>
              </a:ext>
            </a:extLst>
          </p:cNvPr>
          <p:cNvSpPr txBox="1"/>
          <p:nvPr/>
        </p:nvSpPr>
        <p:spPr>
          <a:xfrm>
            <a:off x="731520" y="137160"/>
            <a:ext cx="10058400" cy="584775"/>
          </a:xfrm>
          <a:prstGeom prst="rect">
            <a:avLst/>
          </a:prstGeom>
          <a:noFill/>
        </p:spPr>
        <p:txBody>
          <a:bodyPr wrap="square">
            <a:spAutoFit/>
          </a:bodyPr>
          <a:lstStyle/>
          <a:p>
            <a:pPr algn="l">
              <a:defRPr sz="3200" b="1">
                <a:solidFill>
                  <a:srgbClr val="FFFFFF"/>
                </a:solidFill>
                <a:latin typeface="Calibri"/>
              </a:defRPr>
            </a:pPr>
            <a:r>
              <a:rPr lang="en-US" dirty="0"/>
              <a:t>Buffer Reallocation Process</a:t>
            </a:r>
          </a:p>
        </p:txBody>
      </p:sp>
      <p:sp>
        <p:nvSpPr>
          <p:cNvPr id="16" name="Rectangle 3">
            <a:extLst>
              <a:ext uri="{FF2B5EF4-FFF2-40B4-BE49-F238E27FC236}">
                <a16:creationId xmlns:a16="http://schemas.microsoft.com/office/drawing/2014/main" id="{719D07AD-798E-D232-92B9-4E7D08180ED4}"/>
              </a:ext>
            </a:extLst>
          </p:cNvPr>
          <p:cNvSpPr/>
          <p:nvPr/>
        </p:nvSpPr>
        <p:spPr>
          <a:xfrm>
            <a:off x="2702737" y="1532699"/>
            <a:ext cx="3722370" cy="2154978"/>
          </a:xfrm>
          <a:prstGeom prst="rect">
            <a:avLst/>
          </a:prstGeom>
          <a:solidFill>
            <a:srgbClr val="F2F6FB"/>
          </a:solidFill>
          <a:ln w="6350">
            <a:solidFill>
              <a:srgbClr val="D5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Rectangle 4">
            <a:extLst>
              <a:ext uri="{FF2B5EF4-FFF2-40B4-BE49-F238E27FC236}">
                <a16:creationId xmlns:a16="http://schemas.microsoft.com/office/drawing/2014/main" id="{B3BEED5A-0D85-5720-042B-85F6AA3C70E6}"/>
              </a:ext>
            </a:extLst>
          </p:cNvPr>
          <p:cNvSpPr/>
          <p:nvPr/>
        </p:nvSpPr>
        <p:spPr>
          <a:xfrm>
            <a:off x="2702737" y="1532699"/>
            <a:ext cx="3722370" cy="376441"/>
          </a:xfrm>
          <a:prstGeom prst="rect">
            <a:avLst/>
          </a:prstGeom>
          <a:solidFill>
            <a:srgbClr val="0891B2"/>
          </a:solidFill>
          <a:ln>
            <a:solidFill>
              <a:srgbClr val="3B7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TextBox 5">
            <a:extLst>
              <a:ext uri="{FF2B5EF4-FFF2-40B4-BE49-F238E27FC236}">
                <a16:creationId xmlns:a16="http://schemas.microsoft.com/office/drawing/2014/main" id="{0812F429-4726-E385-7D9F-B893C846A1AB}"/>
              </a:ext>
            </a:extLst>
          </p:cNvPr>
          <p:cNvSpPr txBox="1"/>
          <p:nvPr/>
        </p:nvSpPr>
        <p:spPr>
          <a:xfrm>
            <a:off x="2794176" y="1532699"/>
            <a:ext cx="3594012" cy="376441"/>
          </a:xfrm>
          <a:prstGeom prst="rect">
            <a:avLst/>
          </a:prstGeom>
          <a:noFill/>
        </p:spPr>
        <p:txBody>
          <a:bodyPr wrap="square"/>
          <a:lstStyle/>
          <a:p>
            <a:pPr algn="ctr">
              <a:spcBef>
                <a:spcPts val="0"/>
              </a:spcBef>
              <a:spcAft>
                <a:spcPts val="0"/>
              </a:spcAft>
              <a:defRPr sz="1100" b="1" i="0">
                <a:solidFill>
                  <a:srgbClr val="FFFFFF"/>
                </a:solidFill>
                <a:latin typeface="Calibri"/>
              </a:defRPr>
            </a:pPr>
            <a:r>
              <a:rPr sz="1600" dirty="0"/>
              <a:t>Phase 1 — Partition</a:t>
            </a:r>
          </a:p>
        </p:txBody>
      </p:sp>
      <p:sp>
        <p:nvSpPr>
          <p:cNvPr id="19" name="TextBox 6">
            <a:extLst>
              <a:ext uri="{FF2B5EF4-FFF2-40B4-BE49-F238E27FC236}">
                <a16:creationId xmlns:a16="http://schemas.microsoft.com/office/drawing/2014/main" id="{6B58ADC4-B1F0-DBD6-A968-B0211A889984}"/>
              </a:ext>
            </a:extLst>
          </p:cNvPr>
          <p:cNvSpPr txBox="1"/>
          <p:nvPr/>
        </p:nvSpPr>
        <p:spPr>
          <a:xfrm>
            <a:off x="2702736" y="1944180"/>
            <a:ext cx="3702729" cy="1154162"/>
          </a:xfrm>
          <a:prstGeom prst="rect">
            <a:avLst/>
          </a:prstGeom>
          <a:noFill/>
        </p:spPr>
        <p:txBody>
          <a:bodyPr wrap="square">
            <a:spAutoFit/>
          </a:bodyPr>
          <a:lstStyle/>
          <a:p>
            <a:pPr algn="ctr">
              <a:spcAft>
                <a:spcPts val="200"/>
              </a:spcAft>
              <a:defRPr sz="1200">
                <a:solidFill>
                  <a:srgbClr val="2C3E50"/>
                </a:solidFill>
                <a:latin typeface="Calibri"/>
              </a:defRPr>
            </a:pPr>
            <a:endParaRPr lang="en-US" altLang="zh-CN" sz="1600" dirty="0"/>
          </a:p>
          <a:p>
            <a:pPr algn="ctr">
              <a:spcAft>
                <a:spcPts val="200"/>
              </a:spcAft>
              <a:defRPr sz="1200">
                <a:solidFill>
                  <a:srgbClr val="2C3E50"/>
                </a:solidFill>
                <a:latin typeface="Calibri"/>
              </a:defRPr>
            </a:pPr>
            <a:r>
              <a:rPr lang="en-US" altLang="zh-CN" sz="1600" dirty="0"/>
              <a:t>Partition tenants by their actions</a:t>
            </a:r>
          </a:p>
          <a:p>
            <a:pPr algn="ctr">
              <a:spcAft>
                <a:spcPts val="200"/>
              </a:spcAft>
              <a:defRPr sz="1200">
                <a:solidFill>
                  <a:srgbClr val="2C3E50"/>
                </a:solidFill>
                <a:latin typeface="Calibri"/>
              </a:defRPr>
            </a:pPr>
            <a:r>
              <a:rPr lang="en-US" altLang="zh-CN" sz="1600" dirty="0"/>
              <a:t>Shrink tenants → Shrink queue</a:t>
            </a:r>
          </a:p>
          <a:p>
            <a:pPr algn="ctr">
              <a:spcAft>
                <a:spcPts val="200"/>
              </a:spcAft>
              <a:defRPr sz="1200">
                <a:solidFill>
                  <a:srgbClr val="2C3E50"/>
                </a:solidFill>
                <a:latin typeface="Calibri"/>
              </a:defRPr>
            </a:pPr>
            <a:r>
              <a:rPr lang="en-US" altLang="zh-CN" sz="1600" dirty="0"/>
              <a:t>Grow </a:t>
            </a:r>
            <a:r>
              <a:rPr lang="en-US" altLang="zh-CN" sz="1600" dirty="0" err="1"/>
              <a:t>tanants</a:t>
            </a:r>
            <a:r>
              <a:rPr lang="en-US" altLang="zh-CN" sz="1600" dirty="0"/>
              <a:t> → Grow queue</a:t>
            </a:r>
          </a:p>
        </p:txBody>
      </p:sp>
      <p:sp>
        <p:nvSpPr>
          <p:cNvPr id="4" name="Rectangle 3">
            <a:extLst>
              <a:ext uri="{FF2B5EF4-FFF2-40B4-BE49-F238E27FC236}">
                <a16:creationId xmlns:a16="http://schemas.microsoft.com/office/drawing/2014/main" id="{E4FD09BA-F76C-7511-A8F7-FE2B9D13AEC3}"/>
              </a:ext>
            </a:extLst>
          </p:cNvPr>
          <p:cNvSpPr/>
          <p:nvPr/>
        </p:nvSpPr>
        <p:spPr>
          <a:xfrm>
            <a:off x="7404013" y="1532699"/>
            <a:ext cx="3722370" cy="2154978"/>
          </a:xfrm>
          <a:prstGeom prst="rect">
            <a:avLst/>
          </a:prstGeom>
          <a:solidFill>
            <a:srgbClr val="F2F6FB"/>
          </a:solidFill>
          <a:ln w="6350">
            <a:solidFill>
              <a:srgbClr val="D5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 name="Rectangle 4">
            <a:extLst>
              <a:ext uri="{FF2B5EF4-FFF2-40B4-BE49-F238E27FC236}">
                <a16:creationId xmlns:a16="http://schemas.microsoft.com/office/drawing/2014/main" id="{C329E4C7-CE97-6DA4-AE2D-F8D394C751C2}"/>
              </a:ext>
            </a:extLst>
          </p:cNvPr>
          <p:cNvSpPr/>
          <p:nvPr/>
        </p:nvSpPr>
        <p:spPr>
          <a:xfrm>
            <a:off x="7404013" y="1532699"/>
            <a:ext cx="3722370" cy="376441"/>
          </a:xfrm>
          <a:prstGeom prst="rect">
            <a:avLst/>
          </a:prstGeom>
          <a:solidFill>
            <a:srgbClr val="F79646"/>
          </a:solidFill>
          <a:ln>
            <a:solidFill>
              <a:srgbClr val="3B7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a:extLst>
              <a:ext uri="{FF2B5EF4-FFF2-40B4-BE49-F238E27FC236}">
                <a16:creationId xmlns:a16="http://schemas.microsoft.com/office/drawing/2014/main" id="{D3370CDF-18D2-5192-3582-4F3582D459D3}"/>
              </a:ext>
            </a:extLst>
          </p:cNvPr>
          <p:cNvSpPr txBox="1"/>
          <p:nvPr/>
        </p:nvSpPr>
        <p:spPr>
          <a:xfrm>
            <a:off x="7495452" y="1532699"/>
            <a:ext cx="3594012" cy="376441"/>
          </a:xfrm>
          <a:prstGeom prst="rect">
            <a:avLst/>
          </a:prstGeom>
          <a:noFill/>
        </p:spPr>
        <p:txBody>
          <a:bodyPr wrap="square"/>
          <a:lstStyle/>
          <a:p>
            <a:pPr algn="ctr">
              <a:spcBef>
                <a:spcPts val="0"/>
              </a:spcBef>
              <a:spcAft>
                <a:spcPts val="0"/>
              </a:spcAft>
              <a:defRPr sz="1100" b="1" i="0">
                <a:solidFill>
                  <a:srgbClr val="FFFFFF"/>
                </a:solidFill>
                <a:latin typeface="Calibri"/>
              </a:defRPr>
            </a:pPr>
            <a:r>
              <a:rPr sz="1600" dirty="0"/>
              <a:t>Phase </a:t>
            </a:r>
            <a:r>
              <a:rPr lang="en-US" sz="1600" dirty="0"/>
              <a:t>2</a:t>
            </a:r>
            <a:r>
              <a:rPr sz="1600" dirty="0"/>
              <a:t> — </a:t>
            </a:r>
            <a:r>
              <a:rPr lang="en-US" sz="1600" dirty="0"/>
              <a:t>Matching</a:t>
            </a:r>
            <a:endParaRPr sz="1600" dirty="0"/>
          </a:p>
        </p:txBody>
      </p:sp>
      <p:sp>
        <p:nvSpPr>
          <p:cNvPr id="7" name="TextBox 6">
            <a:extLst>
              <a:ext uri="{FF2B5EF4-FFF2-40B4-BE49-F238E27FC236}">
                <a16:creationId xmlns:a16="http://schemas.microsoft.com/office/drawing/2014/main" id="{76A51D15-89FB-E77B-E596-40FE92DF0F5F}"/>
              </a:ext>
            </a:extLst>
          </p:cNvPr>
          <p:cNvSpPr txBox="1"/>
          <p:nvPr/>
        </p:nvSpPr>
        <p:spPr>
          <a:xfrm>
            <a:off x="7404012" y="1944180"/>
            <a:ext cx="3702729" cy="1426031"/>
          </a:xfrm>
          <a:prstGeom prst="rect">
            <a:avLst/>
          </a:prstGeom>
          <a:noFill/>
        </p:spPr>
        <p:txBody>
          <a:bodyPr wrap="square">
            <a:spAutoFit/>
          </a:bodyPr>
          <a:lstStyle/>
          <a:p>
            <a:pPr algn="ctr">
              <a:spcAft>
                <a:spcPts val="200"/>
              </a:spcAft>
              <a:defRPr sz="1200">
                <a:solidFill>
                  <a:srgbClr val="2C3E50"/>
                </a:solidFill>
                <a:latin typeface="Calibri"/>
              </a:defRPr>
            </a:pPr>
            <a:endParaRPr lang="en-US" altLang="zh-CN" sz="1600" dirty="0"/>
          </a:p>
          <a:p>
            <a:pPr algn="ctr">
              <a:spcAft>
                <a:spcPts val="200"/>
              </a:spcAft>
              <a:defRPr sz="1200">
                <a:solidFill>
                  <a:srgbClr val="2C3E50"/>
                </a:solidFill>
                <a:latin typeface="Calibri"/>
              </a:defRPr>
            </a:pPr>
            <a:r>
              <a:rPr lang="en-US" altLang="zh-CN" sz="1600" dirty="0"/>
              <a:t>Transfer Δ from shrinker </a:t>
            </a:r>
            <a:r>
              <a:rPr lang="en-US" altLang="zh-CN" sz="1600" dirty="0" err="1"/>
              <a:t>i</a:t>
            </a:r>
            <a:r>
              <a:rPr lang="en-US" altLang="zh-CN" sz="1600" dirty="0"/>
              <a:t> → grower j</a:t>
            </a:r>
          </a:p>
          <a:p>
            <a:pPr algn="ctr">
              <a:spcAft>
                <a:spcPts val="200"/>
              </a:spcAft>
              <a:defRPr sz="1200">
                <a:solidFill>
                  <a:srgbClr val="2C3E50"/>
                </a:solidFill>
                <a:latin typeface="Calibri"/>
              </a:defRPr>
            </a:pPr>
            <a:r>
              <a:rPr lang="en-US" altLang="zh-CN" sz="1600" dirty="0"/>
              <a:t>Pop satisfied tenants from queues</a:t>
            </a:r>
          </a:p>
          <a:p>
            <a:pPr algn="ctr">
              <a:spcAft>
                <a:spcPts val="200"/>
              </a:spcAft>
              <a:defRPr sz="1200">
                <a:solidFill>
                  <a:srgbClr val="2C3E50"/>
                </a:solidFill>
                <a:latin typeface="Calibri"/>
              </a:defRPr>
            </a:pPr>
            <a:r>
              <a:rPr lang="en-US" altLang="zh-CN" sz="1600" dirty="0"/>
              <a:t>Stop when shrinker’s buffer is exhausted</a:t>
            </a:r>
          </a:p>
          <a:p>
            <a:pPr algn="ctr">
              <a:spcAft>
                <a:spcPts val="200"/>
              </a:spcAft>
              <a:defRPr sz="1200">
                <a:solidFill>
                  <a:srgbClr val="2C3E50"/>
                </a:solidFill>
                <a:latin typeface="Calibri"/>
              </a:defRPr>
            </a:pPr>
            <a:endParaRPr lang="en-US" altLang="zh-CN" sz="1600" dirty="0"/>
          </a:p>
        </p:txBody>
      </p:sp>
      <p:sp>
        <p:nvSpPr>
          <p:cNvPr id="8" name="Rectangle 3">
            <a:extLst>
              <a:ext uri="{FF2B5EF4-FFF2-40B4-BE49-F238E27FC236}">
                <a16:creationId xmlns:a16="http://schemas.microsoft.com/office/drawing/2014/main" id="{69E14D51-75A2-850C-C9C5-4B8558462F2C}"/>
              </a:ext>
            </a:extLst>
          </p:cNvPr>
          <p:cNvSpPr/>
          <p:nvPr/>
        </p:nvSpPr>
        <p:spPr>
          <a:xfrm>
            <a:off x="7404014" y="4207460"/>
            <a:ext cx="3722370" cy="1976146"/>
          </a:xfrm>
          <a:prstGeom prst="rect">
            <a:avLst/>
          </a:prstGeom>
          <a:solidFill>
            <a:srgbClr val="F2F6FB"/>
          </a:solidFill>
          <a:ln w="6350">
            <a:solidFill>
              <a:srgbClr val="D5DDE8"/>
            </a:solid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sz="3200" dirty="0"/>
          </a:p>
        </p:txBody>
      </p:sp>
      <p:sp>
        <p:nvSpPr>
          <p:cNvPr id="9" name="Rectangle 4">
            <a:extLst>
              <a:ext uri="{FF2B5EF4-FFF2-40B4-BE49-F238E27FC236}">
                <a16:creationId xmlns:a16="http://schemas.microsoft.com/office/drawing/2014/main" id="{081D96C1-26C8-61D4-F56F-F975465F25F9}"/>
              </a:ext>
            </a:extLst>
          </p:cNvPr>
          <p:cNvSpPr/>
          <p:nvPr/>
        </p:nvSpPr>
        <p:spPr>
          <a:xfrm>
            <a:off x="7404014" y="4207461"/>
            <a:ext cx="3722370" cy="345202"/>
          </a:xfrm>
          <a:prstGeom prst="rect">
            <a:avLst/>
          </a:prstGeom>
          <a:solidFill>
            <a:srgbClr val="10B981"/>
          </a:solidFill>
          <a:ln>
            <a:solidFill>
              <a:srgbClr val="3B7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5">
            <a:extLst>
              <a:ext uri="{FF2B5EF4-FFF2-40B4-BE49-F238E27FC236}">
                <a16:creationId xmlns:a16="http://schemas.microsoft.com/office/drawing/2014/main" id="{D4E05189-A066-342F-98F1-871508751A8D}"/>
              </a:ext>
            </a:extLst>
          </p:cNvPr>
          <p:cNvSpPr txBox="1"/>
          <p:nvPr/>
        </p:nvSpPr>
        <p:spPr>
          <a:xfrm>
            <a:off x="7495453" y="4207461"/>
            <a:ext cx="3594012" cy="345202"/>
          </a:xfrm>
          <a:prstGeom prst="rect">
            <a:avLst/>
          </a:prstGeom>
          <a:noFill/>
        </p:spPr>
        <p:txBody>
          <a:bodyPr wrap="square"/>
          <a:lstStyle/>
          <a:p>
            <a:pPr algn="ctr">
              <a:spcBef>
                <a:spcPts val="0"/>
              </a:spcBef>
              <a:spcAft>
                <a:spcPts val="0"/>
              </a:spcAft>
              <a:defRPr sz="1100" b="1" i="0">
                <a:solidFill>
                  <a:srgbClr val="FFFFFF"/>
                </a:solidFill>
                <a:latin typeface="Calibri"/>
              </a:defRPr>
            </a:pPr>
            <a:r>
              <a:rPr sz="1600" dirty="0"/>
              <a:t>Phase </a:t>
            </a:r>
            <a:r>
              <a:rPr lang="en-US" sz="1600" dirty="0"/>
              <a:t>3</a:t>
            </a:r>
            <a:r>
              <a:rPr sz="1600" dirty="0"/>
              <a:t> — </a:t>
            </a:r>
            <a:r>
              <a:rPr lang="en-US" altLang="zh-CN" sz="1600" dirty="0"/>
              <a:t>Reallocation</a:t>
            </a:r>
            <a:endParaRPr sz="1600" dirty="0"/>
          </a:p>
        </p:txBody>
      </p:sp>
      <p:sp>
        <p:nvSpPr>
          <p:cNvPr id="11" name="TextBox 6">
            <a:extLst>
              <a:ext uri="{FF2B5EF4-FFF2-40B4-BE49-F238E27FC236}">
                <a16:creationId xmlns:a16="http://schemas.microsoft.com/office/drawing/2014/main" id="{8D1ADAB3-77B3-7A59-6C63-C9AEF5ABC7E9}"/>
              </a:ext>
            </a:extLst>
          </p:cNvPr>
          <p:cNvSpPr txBox="1"/>
          <p:nvPr/>
        </p:nvSpPr>
        <p:spPr>
          <a:xfrm>
            <a:off x="7404013" y="4618941"/>
            <a:ext cx="3702729" cy="1374735"/>
          </a:xfrm>
          <a:prstGeom prst="rect">
            <a:avLst/>
          </a:prstGeom>
          <a:noFill/>
        </p:spPr>
        <p:txBody>
          <a:bodyPr wrap="square">
            <a:spAutoFit/>
          </a:bodyPr>
          <a:lstStyle/>
          <a:p>
            <a:pPr algn="ctr">
              <a:spcAft>
                <a:spcPts val="200"/>
              </a:spcAft>
              <a:defRPr sz="1200">
                <a:solidFill>
                  <a:srgbClr val="2C3E50"/>
                </a:solidFill>
                <a:latin typeface="Calibri"/>
              </a:defRPr>
            </a:pPr>
            <a:endParaRPr lang="en-US" altLang="zh-CN" sz="1600" dirty="0"/>
          </a:p>
          <a:p>
            <a:pPr algn="ctr">
              <a:spcAft>
                <a:spcPts val="200"/>
              </a:spcAft>
              <a:defRPr sz="1200">
                <a:solidFill>
                  <a:srgbClr val="2C3E50"/>
                </a:solidFill>
                <a:latin typeface="Calibri"/>
              </a:defRPr>
            </a:pPr>
            <a:r>
              <a:rPr lang="en-US" altLang="zh-CN" sz="1600" dirty="0"/>
              <a:t>Send reallocation action to database background thread</a:t>
            </a:r>
          </a:p>
          <a:p>
            <a:pPr algn="ctr">
              <a:spcAft>
                <a:spcPts val="200"/>
              </a:spcAft>
              <a:defRPr sz="1200">
                <a:solidFill>
                  <a:srgbClr val="2C3E50"/>
                </a:solidFill>
                <a:latin typeface="Calibri"/>
              </a:defRPr>
            </a:pPr>
            <a:r>
              <a:rPr lang="en-US" altLang="zh-CN" sz="1600" dirty="0"/>
              <a:t>Adjust buffer size based on reallocation actions</a:t>
            </a:r>
          </a:p>
        </p:txBody>
      </p:sp>
      <p:sp>
        <p:nvSpPr>
          <p:cNvPr id="34" name="Rectangle 3">
            <a:extLst>
              <a:ext uri="{FF2B5EF4-FFF2-40B4-BE49-F238E27FC236}">
                <a16:creationId xmlns:a16="http://schemas.microsoft.com/office/drawing/2014/main" id="{F59BF821-400E-9A96-B661-71A550543632}"/>
              </a:ext>
            </a:extLst>
          </p:cNvPr>
          <p:cNvSpPr/>
          <p:nvPr/>
        </p:nvSpPr>
        <p:spPr>
          <a:xfrm>
            <a:off x="2702737" y="4207459"/>
            <a:ext cx="3722370" cy="1976146"/>
          </a:xfrm>
          <a:prstGeom prst="rect">
            <a:avLst/>
          </a:prstGeom>
          <a:solidFill>
            <a:srgbClr val="F2F6FB"/>
          </a:solidFill>
          <a:ln w="6350">
            <a:solidFill>
              <a:srgbClr val="D5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Rectangle 4">
            <a:extLst>
              <a:ext uri="{FF2B5EF4-FFF2-40B4-BE49-F238E27FC236}">
                <a16:creationId xmlns:a16="http://schemas.microsoft.com/office/drawing/2014/main" id="{72740080-91FC-9045-2BB8-35B76173F551}"/>
              </a:ext>
            </a:extLst>
          </p:cNvPr>
          <p:cNvSpPr/>
          <p:nvPr/>
        </p:nvSpPr>
        <p:spPr>
          <a:xfrm>
            <a:off x="2702737" y="4207460"/>
            <a:ext cx="3722370" cy="345202"/>
          </a:xfrm>
          <a:prstGeom prst="rect">
            <a:avLst/>
          </a:prstGeom>
          <a:solidFill>
            <a:srgbClr val="3B7DD8"/>
          </a:solidFill>
          <a:ln>
            <a:solidFill>
              <a:srgbClr val="3B7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6" name="TextBox 5">
            <a:extLst>
              <a:ext uri="{FF2B5EF4-FFF2-40B4-BE49-F238E27FC236}">
                <a16:creationId xmlns:a16="http://schemas.microsoft.com/office/drawing/2014/main" id="{2101CCE1-DD7C-2985-A393-798205D06BAB}"/>
              </a:ext>
            </a:extLst>
          </p:cNvPr>
          <p:cNvSpPr txBox="1"/>
          <p:nvPr/>
        </p:nvSpPr>
        <p:spPr>
          <a:xfrm>
            <a:off x="2794176" y="4207460"/>
            <a:ext cx="3594012" cy="345202"/>
          </a:xfrm>
          <a:prstGeom prst="rect">
            <a:avLst/>
          </a:prstGeom>
          <a:noFill/>
        </p:spPr>
        <p:txBody>
          <a:bodyPr wrap="square"/>
          <a:lstStyle/>
          <a:p>
            <a:pPr algn="ctr">
              <a:spcBef>
                <a:spcPts val="0"/>
              </a:spcBef>
              <a:spcAft>
                <a:spcPts val="0"/>
              </a:spcAft>
              <a:defRPr sz="1100" b="1" i="0">
                <a:solidFill>
                  <a:srgbClr val="FFFFFF"/>
                </a:solidFill>
                <a:latin typeface="Calibri"/>
              </a:defRPr>
            </a:pPr>
            <a:r>
              <a:rPr sz="1600" dirty="0"/>
              <a:t>Phase </a:t>
            </a:r>
            <a:r>
              <a:rPr lang="en-US" sz="1600" dirty="0"/>
              <a:t>4</a:t>
            </a:r>
            <a:r>
              <a:rPr sz="1600" dirty="0"/>
              <a:t> — </a:t>
            </a:r>
            <a:r>
              <a:rPr lang="en-US" altLang="zh-CN" sz="1600" dirty="0"/>
              <a:t>Reward Update</a:t>
            </a:r>
            <a:endParaRPr sz="1600" dirty="0"/>
          </a:p>
        </p:txBody>
      </p:sp>
      <p:sp>
        <p:nvSpPr>
          <p:cNvPr id="37" name="TextBox 6">
            <a:extLst>
              <a:ext uri="{FF2B5EF4-FFF2-40B4-BE49-F238E27FC236}">
                <a16:creationId xmlns:a16="http://schemas.microsoft.com/office/drawing/2014/main" id="{98940D95-94DD-C22E-E461-68471AE9147F}"/>
              </a:ext>
            </a:extLst>
          </p:cNvPr>
          <p:cNvSpPr txBox="1"/>
          <p:nvPr/>
        </p:nvSpPr>
        <p:spPr>
          <a:xfrm>
            <a:off x="2702736" y="4618940"/>
            <a:ext cx="3702729" cy="856645"/>
          </a:xfrm>
          <a:prstGeom prst="rect">
            <a:avLst/>
          </a:prstGeom>
          <a:noFill/>
        </p:spPr>
        <p:txBody>
          <a:bodyPr wrap="square">
            <a:spAutoFit/>
          </a:bodyPr>
          <a:lstStyle/>
          <a:p>
            <a:pPr algn="ctr">
              <a:spcAft>
                <a:spcPts val="200"/>
              </a:spcAft>
              <a:defRPr sz="1200">
                <a:solidFill>
                  <a:srgbClr val="2C3E50"/>
                </a:solidFill>
                <a:latin typeface="Calibri"/>
              </a:defRPr>
            </a:pPr>
            <a:endParaRPr lang="en-US" altLang="zh-CN" sz="1600" dirty="0"/>
          </a:p>
          <a:p>
            <a:pPr algn="ctr">
              <a:spcAft>
                <a:spcPts val="200"/>
              </a:spcAft>
              <a:defRPr sz="1200">
                <a:solidFill>
                  <a:srgbClr val="2C3E50"/>
                </a:solidFill>
                <a:latin typeface="Calibri"/>
              </a:defRPr>
            </a:pPr>
            <a:r>
              <a:rPr lang="en-US" altLang="zh-CN" sz="1600" dirty="0"/>
              <a:t>The reward will be calculated and sent back to agent layer to update the model</a:t>
            </a:r>
          </a:p>
        </p:txBody>
      </p:sp>
      <p:sp>
        <p:nvSpPr>
          <p:cNvPr id="38" name="箭头: 右 37">
            <a:extLst>
              <a:ext uri="{FF2B5EF4-FFF2-40B4-BE49-F238E27FC236}">
                <a16:creationId xmlns:a16="http://schemas.microsoft.com/office/drawing/2014/main" id="{E59E2860-9773-0D62-013F-64AE8E16452E}"/>
              </a:ext>
            </a:extLst>
          </p:cNvPr>
          <p:cNvSpPr/>
          <p:nvPr/>
        </p:nvSpPr>
        <p:spPr>
          <a:xfrm>
            <a:off x="6425109" y="2349838"/>
            <a:ext cx="978902" cy="520700"/>
          </a:xfrm>
          <a:prstGeom prst="rightArrow">
            <a:avLst/>
          </a:prstGeom>
          <a:solidFill>
            <a:srgbClr val="0891B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9" name="箭头: 右 38">
            <a:extLst>
              <a:ext uri="{FF2B5EF4-FFF2-40B4-BE49-F238E27FC236}">
                <a16:creationId xmlns:a16="http://schemas.microsoft.com/office/drawing/2014/main" id="{7E20A9AA-0FD4-B06E-78F7-21AE1684CD64}"/>
              </a:ext>
            </a:extLst>
          </p:cNvPr>
          <p:cNvSpPr/>
          <p:nvPr/>
        </p:nvSpPr>
        <p:spPr>
          <a:xfrm rot="5400000">
            <a:off x="9047731" y="3672053"/>
            <a:ext cx="489453" cy="520700"/>
          </a:xfrm>
          <a:prstGeom prst="rightArrow">
            <a:avLst/>
          </a:prstGeom>
          <a:solidFill>
            <a:srgbClr val="0891B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0" name="箭头: 右 39">
            <a:extLst>
              <a:ext uri="{FF2B5EF4-FFF2-40B4-BE49-F238E27FC236}">
                <a16:creationId xmlns:a16="http://schemas.microsoft.com/office/drawing/2014/main" id="{229CF1CF-D2A1-8B28-42EA-DD94B2FEAD52}"/>
              </a:ext>
            </a:extLst>
          </p:cNvPr>
          <p:cNvSpPr/>
          <p:nvPr/>
        </p:nvSpPr>
        <p:spPr>
          <a:xfrm rot="10800000">
            <a:off x="6425110" y="4971773"/>
            <a:ext cx="978904" cy="520700"/>
          </a:xfrm>
          <a:prstGeom prst="rightArrow">
            <a:avLst/>
          </a:prstGeom>
          <a:solidFill>
            <a:srgbClr val="0891B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2" name="Rectangle 3">
            <a:extLst>
              <a:ext uri="{FF2B5EF4-FFF2-40B4-BE49-F238E27FC236}">
                <a16:creationId xmlns:a16="http://schemas.microsoft.com/office/drawing/2014/main" id="{FAE66F4D-AFA7-5AA5-A992-91109E07CB47}"/>
              </a:ext>
            </a:extLst>
          </p:cNvPr>
          <p:cNvSpPr/>
          <p:nvPr/>
        </p:nvSpPr>
        <p:spPr>
          <a:xfrm>
            <a:off x="251637" y="1532699"/>
            <a:ext cx="1472192" cy="4650906"/>
          </a:xfrm>
          <a:prstGeom prst="rect">
            <a:avLst/>
          </a:prstGeom>
          <a:solidFill>
            <a:schemeClr val="accent4">
              <a:lumMod val="60000"/>
              <a:lumOff val="40000"/>
            </a:schemeClr>
          </a:solidFill>
          <a:ln w="63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Agent</a:t>
            </a:r>
          </a:p>
          <a:p>
            <a:pPr algn="ctr"/>
            <a:r>
              <a:rPr lang="en-US" sz="3200" dirty="0"/>
              <a:t>Layer</a:t>
            </a:r>
            <a:endParaRPr sz="3200" dirty="0"/>
          </a:p>
        </p:txBody>
      </p:sp>
      <p:sp>
        <p:nvSpPr>
          <p:cNvPr id="44" name="箭头: 右 43">
            <a:extLst>
              <a:ext uri="{FF2B5EF4-FFF2-40B4-BE49-F238E27FC236}">
                <a16:creationId xmlns:a16="http://schemas.microsoft.com/office/drawing/2014/main" id="{73887DE1-C844-7DE8-DC80-6B8057F916D9}"/>
              </a:ext>
            </a:extLst>
          </p:cNvPr>
          <p:cNvSpPr/>
          <p:nvPr/>
        </p:nvSpPr>
        <p:spPr>
          <a:xfrm>
            <a:off x="1723833" y="2349838"/>
            <a:ext cx="978904" cy="520700"/>
          </a:xfrm>
          <a:prstGeom prst="rightArrow">
            <a:avLst/>
          </a:prstGeom>
          <a:solidFill>
            <a:srgbClr val="0891B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Actions</a:t>
            </a:r>
            <a:endParaRPr lang="zh-CN" altLang="en-US" sz="1600" dirty="0"/>
          </a:p>
        </p:txBody>
      </p:sp>
      <p:sp>
        <p:nvSpPr>
          <p:cNvPr id="45" name="箭头: 左 44">
            <a:extLst>
              <a:ext uri="{FF2B5EF4-FFF2-40B4-BE49-F238E27FC236}">
                <a16:creationId xmlns:a16="http://schemas.microsoft.com/office/drawing/2014/main" id="{40165B33-B40F-A162-4726-5379235E4347}"/>
              </a:ext>
            </a:extLst>
          </p:cNvPr>
          <p:cNvSpPr/>
          <p:nvPr/>
        </p:nvSpPr>
        <p:spPr>
          <a:xfrm>
            <a:off x="1723833" y="4971773"/>
            <a:ext cx="978904" cy="520701"/>
          </a:xfrm>
          <a:prstGeom prst="leftArrow">
            <a:avLst/>
          </a:prstGeom>
          <a:solidFill>
            <a:srgbClr val="0891B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Reward</a:t>
            </a:r>
            <a:endParaRPr lang="zh-CN" altLang="en-US" sz="1600" dirty="0"/>
          </a:p>
        </p:txBody>
      </p:sp>
    </p:spTree>
    <p:extLst>
      <p:ext uri="{BB962C8B-B14F-4D97-AF65-F5344CB8AC3E}">
        <p14:creationId xmlns:p14="http://schemas.microsoft.com/office/powerpoint/2010/main" val="3871309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584775"/>
          </a:xfrm>
          <a:prstGeom prst="rect">
            <a:avLst/>
          </a:prstGeom>
          <a:noFill/>
        </p:spPr>
        <p:txBody>
          <a:bodyPr wrap="square">
            <a:spAutoFit/>
          </a:bodyPr>
          <a:lstStyle/>
          <a:p>
            <a:pPr algn="l">
              <a:defRPr sz="3200" b="1">
                <a:solidFill>
                  <a:srgbClr val="FFFFFF"/>
                </a:solidFill>
                <a:latin typeface="Calibri"/>
              </a:defRPr>
            </a:pPr>
            <a:r>
              <a:rPr dirty="0"/>
              <a:t>Implementation </a:t>
            </a:r>
            <a:r>
              <a:rPr lang="en-US" dirty="0"/>
              <a:t>Details</a:t>
            </a:r>
            <a:endParaRPr dirty="0"/>
          </a:p>
        </p:txBody>
      </p:sp>
      <p:sp>
        <p:nvSpPr>
          <p:cNvPr id="4" name="TextBox 3"/>
          <p:cNvSpPr txBox="1"/>
          <p:nvPr/>
        </p:nvSpPr>
        <p:spPr>
          <a:xfrm>
            <a:off x="731520" y="1551563"/>
            <a:ext cx="11071156" cy="615553"/>
          </a:xfrm>
          <a:prstGeom prst="rect">
            <a:avLst/>
          </a:prstGeom>
          <a:noFill/>
        </p:spPr>
        <p:txBody>
          <a:bodyPr wrap="square">
            <a:spAutoFit/>
          </a:bodyPr>
          <a:lstStyle/>
          <a:p>
            <a:pPr>
              <a:defRPr sz="1700">
                <a:solidFill>
                  <a:srgbClr val="333333"/>
                </a:solidFill>
                <a:latin typeface="Calibri"/>
              </a:defRPr>
            </a:pPr>
            <a:endParaRPr lang="en-US" dirty="0"/>
          </a:p>
          <a:p>
            <a:pPr>
              <a:defRPr sz="1700">
                <a:solidFill>
                  <a:srgbClr val="333333"/>
                </a:solidFill>
                <a:latin typeface="Calibri"/>
              </a:defRPr>
            </a:pPr>
            <a:endParaRPr lang="en-US" dirty="0"/>
          </a:p>
        </p:txBody>
      </p:sp>
      <p:sp>
        <p:nvSpPr>
          <p:cNvPr id="8" name="文本框 7">
            <a:extLst>
              <a:ext uri="{FF2B5EF4-FFF2-40B4-BE49-F238E27FC236}">
                <a16:creationId xmlns:a16="http://schemas.microsoft.com/office/drawing/2014/main" id="{DA8A5C06-8290-4361-F938-F75F48EC5E1D}"/>
              </a:ext>
            </a:extLst>
          </p:cNvPr>
          <p:cNvSpPr txBox="1"/>
          <p:nvPr/>
        </p:nvSpPr>
        <p:spPr>
          <a:xfrm>
            <a:off x="731520" y="1228833"/>
            <a:ext cx="10144845" cy="4801314"/>
          </a:xfrm>
          <a:prstGeom prst="rect">
            <a:avLst/>
          </a:prstGeom>
          <a:noFill/>
        </p:spPr>
        <p:txBody>
          <a:bodyPr wrap="square">
            <a:spAutoFit/>
          </a:bodyPr>
          <a:lstStyle/>
          <a:p>
            <a:pPr marL="285750" indent="-285750" algn="just">
              <a:buFont typeface="Wingdings" panose="05000000000000000000" pitchFamily="2" charset="2"/>
              <a:buChar char="Ø"/>
            </a:pPr>
            <a:r>
              <a:rPr lang="en-US" altLang="zh-CN" b="1" dirty="0"/>
              <a:t>Platform: </a:t>
            </a:r>
          </a:p>
          <a:p>
            <a:pPr marL="742950" lvl="1" indent="-285750" algn="just">
              <a:buFont typeface="Wingdings" panose="05000000000000000000" pitchFamily="2" charset="2"/>
              <a:buChar char="Ø"/>
            </a:pPr>
            <a:r>
              <a:rPr lang="en-US" altLang="zh-CN" b="1" dirty="0"/>
              <a:t>We implemented MARL in the open-source relational database OpenGauss 5.1.0. </a:t>
            </a:r>
            <a:r>
              <a:rPr lang="en-US" altLang="zh-CN" dirty="0"/>
              <a:t>A dedicated background thread is created to periodically collect tenant metrics and transmits state information to the RL agent via shared memory, and will adjust the buffer size of each tenant after receiving the reallocation plan</a:t>
            </a:r>
          </a:p>
          <a:p>
            <a:pPr marL="285750" indent="-285750" algn="just">
              <a:buFont typeface="Wingdings" panose="05000000000000000000" pitchFamily="2" charset="2"/>
              <a:buChar char="Ø"/>
            </a:pPr>
            <a:endParaRPr lang="en-US" altLang="zh-CN" dirty="0"/>
          </a:p>
          <a:p>
            <a:pPr marL="285750" indent="-285750" algn="just">
              <a:buFont typeface="Wingdings" panose="05000000000000000000" pitchFamily="2" charset="2"/>
              <a:buChar char="Ø"/>
            </a:pPr>
            <a:r>
              <a:rPr lang="en-US" altLang="zh-CN" b="1" dirty="0"/>
              <a:t>RL Algorithm: </a:t>
            </a:r>
          </a:p>
          <a:p>
            <a:pPr marL="742950" lvl="1" indent="-285750" algn="just">
              <a:buFont typeface="Wingdings" panose="05000000000000000000" pitchFamily="2" charset="2"/>
              <a:buChar char="Ø"/>
            </a:pPr>
            <a:r>
              <a:rPr lang="en-US" altLang="zh-CN" dirty="0"/>
              <a:t>We develop our RL model based on </a:t>
            </a:r>
            <a:r>
              <a:rPr lang="en-US" altLang="zh-CN" b="1" dirty="0"/>
              <a:t>Proximal Policy Optimization (PPO)</a:t>
            </a:r>
          </a:p>
          <a:p>
            <a:pPr marL="285750" indent="-285750" algn="just">
              <a:buFont typeface="Wingdings" panose="05000000000000000000" pitchFamily="2" charset="2"/>
              <a:buChar char="Ø"/>
            </a:pPr>
            <a:endParaRPr lang="en-US" altLang="zh-CN" dirty="0"/>
          </a:p>
          <a:p>
            <a:pPr marL="285750" indent="-285750" algn="just">
              <a:buFont typeface="Wingdings" panose="05000000000000000000" pitchFamily="2" charset="2"/>
              <a:buChar char="Ø"/>
            </a:pPr>
            <a:endParaRPr lang="en-US" altLang="zh-CN" dirty="0"/>
          </a:p>
          <a:p>
            <a:pPr marL="285750" indent="-285750" algn="just">
              <a:buFont typeface="Wingdings" panose="05000000000000000000" pitchFamily="2" charset="2"/>
              <a:buChar char="Ø"/>
            </a:pPr>
            <a:r>
              <a:rPr lang="en-US" altLang="zh-CN" b="1" dirty="0"/>
              <a:t>Training: </a:t>
            </a:r>
          </a:p>
          <a:p>
            <a:pPr marL="742950" lvl="1" indent="-285750" algn="just">
              <a:buFont typeface="Wingdings" panose="05000000000000000000" pitchFamily="2" charset="2"/>
              <a:buChar char="Ø"/>
            </a:pPr>
            <a:r>
              <a:rPr lang="en-US" altLang="zh-CN" b="1" dirty="0"/>
              <a:t>The model is pre-trained for 4 hours offline in a Python simulator before deployment</a:t>
            </a:r>
            <a:r>
              <a:rPr lang="en-US" altLang="zh-CN" dirty="0"/>
              <a:t>; inference task is evenly distributed across 4 CPU cores.</a:t>
            </a:r>
          </a:p>
          <a:p>
            <a:pPr marL="285750" indent="-285750" algn="just">
              <a:buFont typeface="Wingdings" panose="05000000000000000000" pitchFamily="2" charset="2"/>
              <a:buChar char="Ø"/>
            </a:pPr>
            <a:endParaRPr lang="en-US" altLang="zh-CN" dirty="0"/>
          </a:p>
          <a:p>
            <a:pPr marL="742950" lvl="1" indent="-285750" algn="just">
              <a:buFont typeface="Wingdings" panose="05000000000000000000" pitchFamily="2" charset="2"/>
              <a:buChar char="Ø"/>
            </a:pPr>
            <a:r>
              <a:rPr lang="en-US" altLang="zh-CN" b="1" dirty="0"/>
              <a:t>Parameter: </a:t>
            </a:r>
          </a:p>
          <a:p>
            <a:pPr marL="1200150" lvl="2" indent="-285750" algn="just">
              <a:buFont typeface="Wingdings" panose="05000000000000000000" pitchFamily="2" charset="2"/>
              <a:buChar char="Ø"/>
            </a:pPr>
            <a:r>
              <a:rPr lang="en-US" altLang="zh-CN" dirty="0"/>
              <a:t>The reward coefficient is set to 0.3. Hidden layer size is [50, 50]. With a learning rate of 10^-4, the discount factor is 0.9. We train it for 1024 iterations with a batch size of 32.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defRPr sz="3200" b="1">
                <a:solidFill>
                  <a:srgbClr val="FFFFFF"/>
                </a:solidFill>
                <a:latin typeface="Calibri"/>
              </a:defRPr>
            </a:pPr>
            <a:r>
              <a:t>Experimental Setup</a:t>
            </a:r>
          </a:p>
        </p:txBody>
      </p:sp>
      <p:sp>
        <p:nvSpPr>
          <p:cNvPr id="9" name="文本框 8">
            <a:extLst>
              <a:ext uri="{FF2B5EF4-FFF2-40B4-BE49-F238E27FC236}">
                <a16:creationId xmlns:a16="http://schemas.microsoft.com/office/drawing/2014/main" id="{A2FAC137-4682-D64A-4DA2-3AFD0FC00720}"/>
              </a:ext>
            </a:extLst>
          </p:cNvPr>
          <p:cNvSpPr txBox="1"/>
          <p:nvPr/>
        </p:nvSpPr>
        <p:spPr>
          <a:xfrm>
            <a:off x="731520" y="1051560"/>
            <a:ext cx="10927080" cy="5632311"/>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t>Hardware</a:t>
            </a:r>
          </a:p>
          <a:p>
            <a:pPr marL="742950" lvl="1" indent="-285750">
              <a:buFont typeface="Wingdings" panose="05000000000000000000" pitchFamily="2" charset="2"/>
              <a:buChar char="Ø"/>
            </a:pPr>
            <a:r>
              <a:rPr lang="en-US" altLang="zh-CN" dirty="0"/>
              <a:t>Intel Xeon Gold 6348 (28 cores, 2.6 GHz)</a:t>
            </a:r>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en-US" altLang="zh-CN" b="1" dirty="0"/>
              <a:t>Workload Configuration (8 tenants) </a:t>
            </a:r>
          </a:p>
          <a:p>
            <a:pPr marL="742950" lvl="1" indent="-285750">
              <a:buFont typeface="Wingdings" panose="05000000000000000000" pitchFamily="2" charset="2"/>
              <a:buChar char="Ø"/>
            </a:pPr>
            <a:r>
              <a:rPr lang="en-US" altLang="zh-CN" dirty="0"/>
              <a:t>SLA:</a:t>
            </a:r>
          </a:p>
          <a:p>
            <a:pPr marL="1200150" lvl="2" indent="-285750">
              <a:buFont typeface="Wingdings" panose="05000000000000000000" pitchFamily="2" charset="2"/>
              <a:buChar char="Ø"/>
            </a:pPr>
            <a:r>
              <a:rPr lang="en-US" altLang="zh-CN" dirty="0"/>
              <a:t>High-prior tenants (4 tenants): SLA Price=2, Promised Buffer Size = 10% DB size</a:t>
            </a:r>
          </a:p>
          <a:p>
            <a:pPr marL="1200150" lvl="2" indent="-285750">
              <a:buFont typeface="Wingdings" panose="05000000000000000000" pitchFamily="2" charset="2"/>
              <a:buChar char="Ø"/>
            </a:pPr>
            <a:r>
              <a:rPr lang="en-US" altLang="zh-CN" dirty="0"/>
              <a:t>Low-prior  tenants (4 tenants): SLA Price=1, Promised Buffer Size = 5%   DB size</a:t>
            </a:r>
          </a:p>
          <a:p>
            <a:pPr marL="742950" lvl="1" indent="-285750">
              <a:buFont typeface="Wingdings" panose="05000000000000000000" pitchFamily="2" charset="2"/>
              <a:buChar char="Ø"/>
            </a:pPr>
            <a:endParaRPr lang="en-US" altLang="zh-CN" dirty="0"/>
          </a:p>
          <a:p>
            <a:pPr marL="742950" lvl="1" indent="-285750">
              <a:buFont typeface="Wingdings" panose="05000000000000000000" pitchFamily="2" charset="2"/>
              <a:buChar char="Ø"/>
            </a:pPr>
            <a:r>
              <a:rPr lang="en-US" altLang="zh-CN" dirty="0"/>
              <a:t>Database: </a:t>
            </a:r>
          </a:p>
          <a:p>
            <a:pPr marL="1200150" lvl="2" indent="-285750">
              <a:buFont typeface="Wingdings" panose="05000000000000000000" pitchFamily="2" charset="2"/>
              <a:buChar char="Ø"/>
            </a:pPr>
            <a:r>
              <a:rPr lang="en-US" altLang="zh-CN" dirty="0"/>
              <a:t>Each tenant has a DB of 2M * 1 KB records (~2 GB total), generated by YCSB </a:t>
            </a:r>
          </a:p>
          <a:p>
            <a:pPr marL="1200150" lvl="2" indent="-285750">
              <a:buFont typeface="Wingdings" panose="05000000000000000000" pitchFamily="2" charset="2"/>
              <a:buChar char="Ø"/>
            </a:pPr>
            <a:r>
              <a:rPr lang="en-US" altLang="zh-CN" dirty="0"/>
              <a:t>Total Buffer size = 25%/50%/75% of Total Promised Buffer Size</a:t>
            </a:r>
          </a:p>
          <a:p>
            <a:pPr marL="742950" lvl="1" indent="-285750">
              <a:buFont typeface="Wingdings" panose="05000000000000000000" pitchFamily="2" charset="2"/>
              <a:buChar char="Ø"/>
            </a:pPr>
            <a:endParaRPr lang="en-US" altLang="zh-CN" dirty="0"/>
          </a:p>
          <a:p>
            <a:pPr marL="742950" lvl="1" indent="-285750">
              <a:buFont typeface="Wingdings" panose="05000000000000000000" pitchFamily="2" charset="2"/>
              <a:buChar char="Ø"/>
            </a:pPr>
            <a:r>
              <a:rPr lang="en-US" altLang="zh-CN" dirty="0"/>
              <a:t>Access Pattern: </a:t>
            </a:r>
          </a:p>
          <a:p>
            <a:pPr marL="1200150" lvl="2" indent="-285750">
              <a:buFont typeface="Wingdings" panose="05000000000000000000" pitchFamily="2" charset="2"/>
              <a:buChar char="Ø"/>
            </a:pPr>
            <a:r>
              <a:rPr lang="en-US" altLang="zh-CN" dirty="0"/>
              <a:t>Mixture of 4 access patterns: Scan/Latest/Zipfian/Uniform</a:t>
            </a:r>
          </a:p>
          <a:p>
            <a:pPr marL="742950" lvl="1"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en-US" altLang="zh-CN" b="1" dirty="0"/>
              <a:t>Competitors</a:t>
            </a:r>
          </a:p>
          <a:p>
            <a:pPr marL="742950" lvl="1" indent="-285750">
              <a:buFont typeface="Wingdings" panose="05000000000000000000" pitchFamily="2" charset="2"/>
              <a:buChar char="Ø"/>
            </a:pPr>
            <a:r>
              <a:rPr lang="en-US" altLang="zh-CN" dirty="0"/>
              <a:t>Shared (global </a:t>
            </a:r>
            <a:r>
              <a:rPr lang="en-US" altLang="zh-CN" dirty="0" err="1"/>
              <a:t>ClockSweep</a:t>
            </a:r>
            <a:r>
              <a:rPr lang="en-US" altLang="zh-CN" dirty="0"/>
              <a:t>) · Static (proportional to promised) · SAM (state-of-the-art heuristic)</a:t>
            </a:r>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en-US" altLang="zh-CN" b="1" dirty="0"/>
              <a:t>Metrics</a:t>
            </a:r>
          </a:p>
          <a:p>
            <a:pPr marL="742950" lvl="1" indent="-285750">
              <a:buFont typeface="Wingdings" panose="05000000000000000000" pitchFamily="2" charset="2"/>
              <a:buChar char="Ø"/>
            </a:pPr>
            <a:r>
              <a:rPr lang="en-US" altLang="zh-CN" dirty="0"/>
              <a:t>SLA Cost / Buffer Miss Ratio / Throughput / Average &amp; P99 Latency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Rectangle 27">
                <a:extLst>
                  <a:ext uri="{FF2B5EF4-FFF2-40B4-BE49-F238E27FC236}">
                    <a16:creationId xmlns:a16="http://schemas.microsoft.com/office/drawing/2014/main" id="{9F24BF9F-267A-2B12-6B24-089E483BCE58}"/>
                  </a:ext>
                </a:extLst>
              </p:cNvPr>
              <p:cNvSpPr/>
              <p:nvPr/>
            </p:nvSpPr>
            <p:spPr>
              <a:xfrm>
                <a:off x="540560" y="1105722"/>
                <a:ext cx="11110573" cy="1950369"/>
              </a:xfrm>
              <a:prstGeom prst="rect">
                <a:avLst/>
              </a:prstGeom>
              <a:solidFill>
                <a:srgbClr val="F2F6FB"/>
              </a:solidFill>
              <a:ln w="6350">
                <a:solidFill>
                  <a:srgbClr val="D5DDE8"/>
                </a:solidFill>
              </a:ln>
            </p:spPr>
            <p:style>
              <a:lnRef idx="1">
                <a:schemeClr val="accent1"/>
              </a:lnRef>
              <a:fillRef idx="3">
                <a:schemeClr val="accent1"/>
              </a:fillRef>
              <a:effectRef idx="2">
                <a:schemeClr val="accent1"/>
              </a:effectRef>
              <a:fontRef idx="minor">
                <a:schemeClr val="lt1"/>
              </a:fontRef>
            </p:style>
            <p:txBody>
              <a:bodyPr rtlCol="0" anchor="ctr"/>
              <a:lstStyle/>
              <a:p>
                <a:pPr algn="just"/>
                <a:r>
                  <a:rPr lang="en-US" altLang="zh-CN" dirty="0">
                    <a:solidFill>
                      <a:schemeClr val="tx1"/>
                    </a:solidFill>
                  </a:rPr>
                  <a:t>	</a:t>
                </a:r>
              </a:p>
              <a:p>
                <a:pPr algn="just"/>
                <a:endParaRPr lang="en-US" altLang="zh-CN" dirty="0">
                  <a:solidFill>
                    <a:schemeClr val="tx1"/>
                  </a:solidFill>
                </a:endParaRPr>
              </a:p>
              <a:p>
                <a:pPr algn="just"/>
                <a:r>
                  <a:rPr lang="en-US" altLang="zh-CN" dirty="0">
                    <a:solidFill>
                      <a:schemeClr val="tx1"/>
                    </a:solidFill>
                  </a:rPr>
                  <a:t>	</a:t>
                </a:r>
                <a:r>
                  <a:rPr lang="zh-CN" altLang="zh-CN" dirty="0">
                    <a:solidFill>
                      <a:schemeClr val="tx1"/>
                    </a:solidFill>
                  </a:rPr>
                  <a:t>In reality, buffer misses incur additional network overhead. </a:t>
                </a:r>
                <a:r>
                  <a:rPr lang="en-US" altLang="zh-CN" dirty="0">
                    <a:solidFill>
                      <a:schemeClr val="tx1"/>
                    </a:solidFill>
                  </a:rPr>
                  <a:t>we simulate this overhead by adding a delay into the critical path of cache misses, calculated as:  </a:t>
                </a:r>
              </a:p>
              <a:p>
                <a:pPr algn="just"/>
                <a:r>
                  <a:rPr lang="en-US" altLang="zh-CN" dirty="0">
                    <a:solidFill>
                      <a:schemeClr val="tx1"/>
                    </a:solidFill>
                  </a:rPr>
                  <a:t>	</a:t>
                </a:r>
              </a:p>
              <a:p>
                <a:pPr algn="ctr"/>
                <a14:m>
                  <m:oMathPara xmlns:m="http://schemas.openxmlformats.org/officeDocument/2006/math">
                    <m:oMathParaPr>
                      <m:jc m:val="centerGroup"/>
                    </m:oMathParaPr>
                    <m:oMath xmlns:m="http://schemas.openxmlformats.org/officeDocument/2006/math">
                      <m:r>
                        <m:rPr>
                          <m:nor/>
                        </m:rPr>
                        <a:rPr lang="en-US" altLang="zh-CN" dirty="0">
                          <a:solidFill>
                            <a:schemeClr val="tx1"/>
                          </a:solidFill>
                        </a:rPr>
                        <m:t>Additional</m:t>
                      </m:r>
                      <m:r>
                        <m:rPr>
                          <m:nor/>
                        </m:rPr>
                        <a:rPr lang="en-US" altLang="zh-CN" dirty="0">
                          <a:solidFill>
                            <a:schemeClr val="tx1"/>
                          </a:solidFill>
                        </a:rPr>
                        <m:t> </m:t>
                      </m:r>
                      <m:r>
                        <m:rPr>
                          <m:nor/>
                        </m:rPr>
                        <a:rPr lang="en-US" altLang="zh-CN" dirty="0">
                          <a:solidFill>
                            <a:schemeClr val="tx1"/>
                          </a:solidFill>
                        </a:rPr>
                        <m:t>Latency</m:t>
                      </m:r>
                      <m:r>
                        <m:rPr>
                          <m:nor/>
                        </m:rPr>
                        <a:rPr lang="en-US" altLang="zh-CN" dirty="0">
                          <a:solidFill>
                            <a:schemeClr val="tx1"/>
                          </a:solidFill>
                        </a:rPr>
                        <m:t> = </m:t>
                      </m:r>
                      <m:r>
                        <m:rPr>
                          <m:nor/>
                        </m:rPr>
                        <a:rPr lang="en-US" altLang="zh-CN" b="1" dirty="0">
                          <a:solidFill>
                            <a:schemeClr val="tx1"/>
                          </a:solidFill>
                        </a:rPr>
                        <m:t>Miss</m:t>
                      </m:r>
                      <m:r>
                        <m:rPr>
                          <m:nor/>
                        </m:rPr>
                        <a:rPr lang="en-US" altLang="zh-CN" b="1" dirty="0">
                          <a:solidFill>
                            <a:schemeClr val="tx1"/>
                          </a:solidFill>
                        </a:rPr>
                        <m:t> </m:t>
                      </m:r>
                      <m:r>
                        <m:rPr>
                          <m:nor/>
                        </m:rPr>
                        <a:rPr lang="en-US" altLang="zh-CN" b="1" dirty="0">
                          <a:solidFill>
                            <a:schemeClr val="tx1"/>
                          </a:solidFill>
                        </a:rPr>
                        <m:t>Cost</m:t>
                      </m:r>
                      <m:r>
                        <m:rPr>
                          <m:nor/>
                        </m:rPr>
                        <a:rPr lang="en-US" altLang="zh-CN" b="1" dirty="0">
                          <a:solidFill>
                            <a:schemeClr val="tx1"/>
                          </a:solidFill>
                        </a:rPr>
                        <m:t> </m:t>
                      </m:r>
                      <m:r>
                        <m:rPr>
                          <m:nor/>
                        </m:rPr>
                        <a:rPr lang="en-US" altLang="zh-CN" b="1" dirty="0">
                          <a:solidFill>
                            <a:schemeClr val="tx1"/>
                          </a:solidFill>
                        </a:rPr>
                        <m:t>Factor</m:t>
                      </m:r>
                      <m:r>
                        <m:rPr>
                          <m:nor/>
                        </m:rPr>
                        <a:rPr lang="en-US" altLang="zh-CN" dirty="0">
                          <a:solidFill>
                            <a:schemeClr val="tx1"/>
                          </a:solidFill>
                        </a:rPr>
                        <m:t> ∗ </m:t>
                      </m:r>
                      <m:r>
                        <m:rPr>
                          <m:nor/>
                        </m:rPr>
                        <a:rPr lang="en-US" altLang="zh-CN" dirty="0">
                          <a:solidFill>
                            <a:schemeClr val="tx1"/>
                          </a:solidFill>
                        </a:rPr>
                        <m:t>Measured</m:t>
                      </m:r>
                      <m:r>
                        <m:rPr>
                          <m:nor/>
                        </m:rPr>
                        <a:rPr lang="en-US" altLang="zh-CN" dirty="0">
                          <a:solidFill>
                            <a:schemeClr val="tx1"/>
                          </a:solidFill>
                        </a:rPr>
                        <m:t> </m:t>
                      </m:r>
                      <m:r>
                        <m:rPr>
                          <m:nor/>
                        </m:rPr>
                        <a:rPr lang="en-US" altLang="zh-CN" dirty="0">
                          <a:solidFill>
                            <a:schemeClr val="tx1"/>
                          </a:solidFill>
                        </a:rPr>
                        <m:t>Local</m:t>
                      </m:r>
                      <m:r>
                        <m:rPr>
                          <m:nor/>
                        </m:rPr>
                        <a:rPr lang="en-US" altLang="zh-CN" dirty="0">
                          <a:solidFill>
                            <a:schemeClr val="tx1"/>
                          </a:solidFill>
                        </a:rPr>
                        <m:t> </m:t>
                      </m:r>
                      <m:r>
                        <m:rPr>
                          <m:nor/>
                        </m:rPr>
                        <a:rPr lang="en-US" altLang="zh-CN" dirty="0">
                          <a:solidFill>
                            <a:schemeClr val="tx1"/>
                          </a:solidFill>
                        </a:rPr>
                        <m:t>Disk</m:t>
                      </m:r>
                      <m:r>
                        <m:rPr>
                          <m:nor/>
                        </m:rPr>
                        <a:rPr lang="en-US" altLang="zh-CN" dirty="0">
                          <a:solidFill>
                            <a:schemeClr val="tx1"/>
                          </a:solidFill>
                        </a:rPr>
                        <m:t> </m:t>
                      </m:r>
                      <m:r>
                        <m:rPr>
                          <m:nor/>
                        </m:rPr>
                        <a:rPr lang="en-US" altLang="zh-CN" dirty="0">
                          <a:solidFill>
                            <a:schemeClr val="tx1"/>
                          </a:solidFill>
                        </a:rPr>
                        <m:t>Latency</m:t>
                      </m:r>
                    </m:oMath>
                  </m:oMathPara>
                </a14:m>
                <a:endParaRPr lang="en-US" altLang="zh-CN" dirty="0">
                  <a:solidFill>
                    <a:schemeClr val="tx1"/>
                  </a:solidFill>
                </a:endParaRPr>
              </a:p>
              <a:p>
                <a:r>
                  <a:rPr lang="en-US" altLang="zh-CN" dirty="0">
                    <a:solidFill>
                      <a:schemeClr val="tx1"/>
                    </a:solidFill>
                  </a:rPr>
                  <a:t>	</a:t>
                </a:r>
              </a:p>
              <a:p>
                <a:r>
                  <a:rPr lang="en-US" altLang="zh-CN" dirty="0">
                    <a:solidFill>
                      <a:schemeClr val="tx1"/>
                    </a:solidFill>
                  </a:rPr>
                  <a:t>	Across </a:t>
                </a:r>
                <a14:m>
                  <m:oMath xmlns:m="http://schemas.openxmlformats.org/officeDocument/2006/math">
                    <m:r>
                      <m:rPr>
                        <m:nor/>
                      </m:rPr>
                      <a:rPr lang="en-US" altLang="zh-CN" b="1" dirty="0">
                        <a:solidFill>
                          <a:schemeClr val="tx1"/>
                        </a:solidFill>
                      </a:rPr>
                      <m:t>Miss</m:t>
                    </m:r>
                    <m:r>
                      <m:rPr>
                        <m:nor/>
                      </m:rPr>
                      <a:rPr lang="en-US" altLang="zh-CN" b="1" dirty="0">
                        <a:solidFill>
                          <a:schemeClr val="tx1"/>
                        </a:solidFill>
                      </a:rPr>
                      <m:t> </m:t>
                    </m:r>
                    <m:r>
                      <m:rPr>
                        <m:nor/>
                      </m:rPr>
                      <a:rPr lang="en-US" altLang="zh-CN" b="1" dirty="0">
                        <a:solidFill>
                          <a:schemeClr val="tx1"/>
                        </a:solidFill>
                      </a:rPr>
                      <m:t>Cost</m:t>
                    </m:r>
                    <m:r>
                      <m:rPr>
                        <m:nor/>
                      </m:rPr>
                      <a:rPr lang="en-US" altLang="zh-CN" b="1" dirty="0">
                        <a:solidFill>
                          <a:schemeClr val="tx1"/>
                        </a:solidFill>
                      </a:rPr>
                      <m:t> </m:t>
                    </m:r>
                    <m:r>
                      <m:rPr>
                        <m:nor/>
                      </m:rPr>
                      <a:rPr lang="en-US" altLang="zh-CN" b="1" dirty="0">
                        <a:solidFill>
                          <a:schemeClr val="tx1"/>
                        </a:solidFill>
                      </a:rPr>
                      <m:t>Factor</m:t>
                    </m:r>
                  </m:oMath>
                </a14:m>
                <a:r>
                  <a:rPr lang="en-US" altLang="zh-CN" dirty="0">
                    <a:solidFill>
                      <a:schemeClr val="tx1"/>
                    </a:solidFill>
                  </a:rPr>
                  <a:t> from 4 to 16, </a:t>
                </a:r>
                <a:r>
                  <a:rPr lang="en-US" altLang="zh-CN" b="1" dirty="0">
                    <a:solidFill>
                      <a:srgbClr val="FF0000"/>
                    </a:solidFill>
                  </a:rPr>
                  <a:t>MARL consistently outperforms all baselines,	 boosting throughput by up to 72.2%, reduce average latency by up to 45.1%, P99 by 37.4%</a:t>
                </a:r>
              </a:p>
              <a:p>
                <a:endParaRPr lang="en-US" altLang="zh-CN" dirty="0">
                  <a:solidFill>
                    <a:schemeClr val="tx1"/>
                  </a:solidFill>
                </a:endParaRPr>
              </a:p>
              <a:p>
                <a:pPr algn="ctr"/>
                <a:endParaRPr dirty="0"/>
              </a:p>
            </p:txBody>
          </p:sp>
        </mc:Choice>
        <mc:Fallback xmlns="">
          <p:sp>
            <p:nvSpPr>
              <p:cNvPr id="12" name="Rectangle 27">
                <a:extLst>
                  <a:ext uri="{FF2B5EF4-FFF2-40B4-BE49-F238E27FC236}">
                    <a16:creationId xmlns:a16="http://schemas.microsoft.com/office/drawing/2014/main" id="{9F24BF9F-267A-2B12-6B24-089E483BCE58}"/>
                  </a:ext>
                </a:extLst>
              </p:cNvPr>
              <p:cNvSpPr>
                <a:spLocks noRot="1" noChangeAspect="1" noMove="1" noResize="1" noEditPoints="1" noAdjustHandles="1" noChangeArrowheads="1" noChangeShapeType="1" noTextEdit="1"/>
              </p:cNvSpPr>
              <p:nvPr/>
            </p:nvSpPr>
            <p:spPr>
              <a:xfrm>
                <a:off x="540560" y="1105722"/>
                <a:ext cx="11110573" cy="1950369"/>
              </a:xfrm>
              <a:prstGeom prst="rect">
                <a:avLst/>
              </a:prstGeom>
              <a:blipFill>
                <a:blip r:embed="rId3"/>
                <a:stretch>
                  <a:fillRect/>
                </a:stretch>
              </a:blipFill>
              <a:ln w="6350">
                <a:solidFill>
                  <a:srgbClr val="D5DDE8"/>
                </a:solidFill>
              </a:ln>
            </p:spPr>
            <p:txBody>
              <a:bodyPr/>
              <a:lstStyle/>
              <a:p>
                <a:r>
                  <a:rPr lang="zh-CN" altLang="en-US">
                    <a:noFill/>
                  </a:rPr>
                  <a:t> </a:t>
                </a:r>
              </a:p>
            </p:txBody>
          </p:sp>
        </mc:Fallback>
      </mc:AlternateContent>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584775"/>
          </a:xfrm>
          <a:prstGeom prst="rect">
            <a:avLst/>
          </a:prstGeom>
          <a:noFill/>
        </p:spPr>
        <p:txBody>
          <a:bodyPr wrap="square">
            <a:spAutoFit/>
          </a:bodyPr>
          <a:lstStyle/>
          <a:p>
            <a:pPr algn="l">
              <a:defRPr sz="3200" b="1">
                <a:solidFill>
                  <a:srgbClr val="FFFFFF"/>
                </a:solidFill>
                <a:latin typeface="Calibri"/>
              </a:defRPr>
            </a:pPr>
            <a:r>
              <a:rPr lang="en-US" dirty="0"/>
              <a:t>Throughput &amp; Latency</a:t>
            </a:r>
            <a:endParaRPr dirty="0"/>
          </a:p>
        </p:txBody>
      </p:sp>
      <p:pic>
        <p:nvPicPr>
          <p:cNvPr id="23" name="图片 22">
            <a:extLst>
              <a:ext uri="{FF2B5EF4-FFF2-40B4-BE49-F238E27FC236}">
                <a16:creationId xmlns:a16="http://schemas.microsoft.com/office/drawing/2014/main" id="{CA700E6A-ACE8-D317-FB17-1B0C8A3B97EA}"/>
              </a:ext>
            </a:extLst>
          </p:cNvPr>
          <p:cNvPicPr>
            <a:picLocks noChangeAspect="1"/>
          </p:cNvPicPr>
          <p:nvPr/>
        </p:nvPicPr>
        <p:blipFill>
          <a:blip r:embed="rId4"/>
          <a:stretch>
            <a:fillRect/>
          </a:stretch>
        </p:blipFill>
        <p:spPr>
          <a:xfrm>
            <a:off x="664984" y="3164042"/>
            <a:ext cx="3657298" cy="3657298"/>
          </a:xfrm>
          <a:prstGeom prst="rect">
            <a:avLst/>
          </a:prstGeom>
        </p:spPr>
      </p:pic>
      <p:pic>
        <p:nvPicPr>
          <p:cNvPr id="25" name="图片 24">
            <a:extLst>
              <a:ext uri="{FF2B5EF4-FFF2-40B4-BE49-F238E27FC236}">
                <a16:creationId xmlns:a16="http://schemas.microsoft.com/office/drawing/2014/main" id="{59D48047-B4D1-CB86-1B31-1D2DE9D6A1F5}"/>
              </a:ext>
            </a:extLst>
          </p:cNvPr>
          <p:cNvPicPr>
            <a:picLocks noChangeAspect="1"/>
          </p:cNvPicPr>
          <p:nvPr/>
        </p:nvPicPr>
        <p:blipFill>
          <a:blip r:embed="rId5"/>
          <a:stretch>
            <a:fillRect/>
          </a:stretch>
        </p:blipFill>
        <p:spPr>
          <a:xfrm>
            <a:off x="4414335" y="3164042"/>
            <a:ext cx="3657298" cy="3657298"/>
          </a:xfrm>
          <a:prstGeom prst="rect">
            <a:avLst/>
          </a:prstGeom>
        </p:spPr>
      </p:pic>
      <p:pic>
        <p:nvPicPr>
          <p:cNvPr id="29" name="图片 28">
            <a:extLst>
              <a:ext uri="{FF2B5EF4-FFF2-40B4-BE49-F238E27FC236}">
                <a16:creationId xmlns:a16="http://schemas.microsoft.com/office/drawing/2014/main" id="{E95A3E31-A430-41F2-F41C-E7F8A38F79A7}"/>
              </a:ext>
            </a:extLst>
          </p:cNvPr>
          <p:cNvPicPr>
            <a:picLocks noChangeAspect="1"/>
          </p:cNvPicPr>
          <p:nvPr/>
        </p:nvPicPr>
        <p:blipFill>
          <a:blip r:embed="rId6"/>
          <a:stretch>
            <a:fillRect/>
          </a:stretch>
        </p:blipFill>
        <p:spPr>
          <a:xfrm>
            <a:off x="8163686" y="3164042"/>
            <a:ext cx="3657298" cy="365729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584775"/>
          </a:xfrm>
          <a:prstGeom prst="rect">
            <a:avLst/>
          </a:prstGeom>
          <a:noFill/>
        </p:spPr>
        <p:txBody>
          <a:bodyPr wrap="square">
            <a:spAutoFit/>
          </a:bodyPr>
          <a:lstStyle/>
          <a:p>
            <a:pPr algn="l">
              <a:defRPr sz="3200" b="1">
                <a:solidFill>
                  <a:srgbClr val="FFFFFF"/>
                </a:solidFill>
                <a:latin typeface="Calibri"/>
              </a:defRPr>
            </a:pPr>
            <a:r>
              <a:rPr lang="en-US" dirty="0"/>
              <a:t>Miss Ratio &amp; </a:t>
            </a:r>
            <a:r>
              <a:rPr dirty="0"/>
              <a:t>SLA Cost</a:t>
            </a:r>
          </a:p>
        </p:txBody>
      </p:sp>
      <p:pic>
        <p:nvPicPr>
          <p:cNvPr id="7" name="图片 6">
            <a:extLst>
              <a:ext uri="{FF2B5EF4-FFF2-40B4-BE49-F238E27FC236}">
                <a16:creationId xmlns:a16="http://schemas.microsoft.com/office/drawing/2014/main" id="{4D424C1E-4368-D361-3AC3-B6B4BD088CA6}"/>
              </a:ext>
            </a:extLst>
          </p:cNvPr>
          <p:cNvPicPr>
            <a:picLocks noChangeAspect="1"/>
          </p:cNvPicPr>
          <p:nvPr/>
        </p:nvPicPr>
        <p:blipFill>
          <a:blip r:embed="rId3"/>
          <a:stretch>
            <a:fillRect/>
          </a:stretch>
        </p:blipFill>
        <p:spPr>
          <a:xfrm>
            <a:off x="619100" y="3056091"/>
            <a:ext cx="5067258" cy="3800443"/>
          </a:xfrm>
          <a:prstGeom prst="rect">
            <a:avLst/>
          </a:prstGeom>
        </p:spPr>
      </p:pic>
      <p:pic>
        <p:nvPicPr>
          <p:cNvPr id="9" name="图片 8">
            <a:extLst>
              <a:ext uri="{FF2B5EF4-FFF2-40B4-BE49-F238E27FC236}">
                <a16:creationId xmlns:a16="http://schemas.microsoft.com/office/drawing/2014/main" id="{AD9EA3B4-5917-DF46-EBD2-7A79D416E9DE}"/>
              </a:ext>
            </a:extLst>
          </p:cNvPr>
          <p:cNvPicPr>
            <a:picLocks noChangeAspect="1"/>
          </p:cNvPicPr>
          <p:nvPr/>
        </p:nvPicPr>
        <p:blipFill>
          <a:blip r:embed="rId4"/>
          <a:stretch>
            <a:fillRect/>
          </a:stretch>
        </p:blipFill>
        <p:spPr>
          <a:xfrm>
            <a:off x="6505644" y="3056090"/>
            <a:ext cx="5067257" cy="3800443"/>
          </a:xfrm>
          <a:prstGeom prst="rect">
            <a:avLst/>
          </a:prstGeom>
        </p:spPr>
      </p:pic>
      <p:sp>
        <p:nvSpPr>
          <p:cNvPr id="19" name="Rectangle 27">
            <a:extLst>
              <a:ext uri="{FF2B5EF4-FFF2-40B4-BE49-F238E27FC236}">
                <a16:creationId xmlns:a16="http://schemas.microsoft.com/office/drawing/2014/main" id="{E100AC11-D7A4-AC65-586B-C13EF5620713}"/>
              </a:ext>
            </a:extLst>
          </p:cNvPr>
          <p:cNvSpPr/>
          <p:nvPr/>
        </p:nvSpPr>
        <p:spPr>
          <a:xfrm>
            <a:off x="540560" y="1105723"/>
            <a:ext cx="11110573" cy="1389828"/>
          </a:xfrm>
          <a:prstGeom prst="rect">
            <a:avLst/>
          </a:prstGeom>
          <a:solidFill>
            <a:srgbClr val="F2F6FB"/>
          </a:solidFill>
          <a:ln w="6350">
            <a:solidFill>
              <a:srgbClr val="D5DDE8"/>
            </a:solid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dirty="0"/>
          </a:p>
          <a:p>
            <a:pPr algn="just"/>
            <a:r>
              <a:rPr lang="en-US" altLang="zh-CN" dirty="0">
                <a:solidFill>
                  <a:schemeClr val="tx1"/>
                </a:solidFill>
              </a:rPr>
              <a:t>	MARL consistently achieves the lowest miss ratio and SLA cost across varying buffer pool sizes. Compared to SAM, Static, and Shared, </a:t>
            </a:r>
            <a:r>
              <a:rPr lang="en-US" altLang="zh-CN" b="1" dirty="0">
                <a:solidFill>
                  <a:srgbClr val="FF0000"/>
                </a:solidFill>
              </a:rPr>
              <a:t>MARL reduces the average miss ratio by 5.8%, 11.7%, and 9.7%, and the average SLA cost by 15.4%, 26.3%, and 20.1%, respectively.</a:t>
            </a:r>
          </a:p>
          <a:p>
            <a:endParaRPr lang="en-US" altLang="zh-CN" dirty="0">
              <a:solidFill>
                <a:schemeClr val="tx1"/>
              </a:solidFill>
            </a:endParaRPr>
          </a:p>
          <a:p>
            <a:pPr algn="ct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F88F674-A35C-D38F-DD0B-454713C8CCF8}"/>
            </a:ext>
          </a:extLst>
        </p:cNvPr>
        <p:cNvGrpSpPr/>
        <p:nvPr/>
      </p:nvGrpSpPr>
      <p:grpSpPr>
        <a:xfrm>
          <a:off x="0" y="0"/>
          <a:ext cx="0" cy="0"/>
          <a:chOff x="0" y="0"/>
          <a:chExt cx="0" cy="0"/>
        </a:xfrm>
      </p:grpSpPr>
      <p:sp>
        <p:nvSpPr>
          <p:cNvPr id="4" name="Rectangle 27">
            <a:extLst>
              <a:ext uri="{FF2B5EF4-FFF2-40B4-BE49-F238E27FC236}">
                <a16:creationId xmlns:a16="http://schemas.microsoft.com/office/drawing/2014/main" id="{7BC5431D-4576-3C99-4DF4-3B695D6EBF6F}"/>
              </a:ext>
            </a:extLst>
          </p:cNvPr>
          <p:cNvSpPr/>
          <p:nvPr/>
        </p:nvSpPr>
        <p:spPr>
          <a:xfrm>
            <a:off x="540561" y="1105722"/>
            <a:ext cx="4026751" cy="2496325"/>
          </a:xfrm>
          <a:prstGeom prst="rect">
            <a:avLst/>
          </a:prstGeom>
          <a:solidFill>
            <a:srgbClr val="F2F6FB"/>
          </a:solidFill>
          <a:ln w="6350">
            <a:solidFill>
              <a:srgbClr val="D5DDE8"/>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200"/>
              </a:spcAft>
              <a:defRPr sz="1200">
                <a:solidFill>
                  <a:srgbClr val="2C3E50"/>
                </a:solidFill>
                <a:latin typeface="Calibri"/>
              </a:defRPr>
            </a:pPr>
            <a:endParaRPr lang="en-US" altLang="zh-CN" sz="1600" dirty="0"/>
          </a:p>
          <a:p>
            <a:pPr marL="285750" indent="-285750">
              <a:spcAft>
                <a:spcPts val="200"/>
              </a:spcAft>
              <a:buFont typeface="Wingdings" panose="05000000000000000000" pitchFamily="2" charset="2"/>
              <a:buChar char="Ø"/>
              <a:defRPr sz="1200">
                <a:solidFill>
                  <a:srgbClr val="2C3E50"/>
                </a:solidFill>
                <a:latin typeface="Calibri"/>
              </a:defRPr>
            </a:pPr>
            <a:r>
              <a:rPr lang="en-US" altLang="zh-CN" sz="1600" dirty="0"/>
              <a:t>We scale 8-tenant workload proportionally with buffer pool, up to 64 tenants </a:t>
            </a:r>
          </a:p>
          <a:p>
            <a:pPr marL="285750" indent="-285750">
              <a:spcAft>
                <a:spcPts val="200"/>
              </a:spcAft>
              <a:buFont typeface="Wingdings" panose="05000000000000000000" pitchFamily="2" charset="2"/>
              <a:buChar char="Ø"/>
              <a:defRPr sz="1200">
                <a:solidFill>
                  <a:srgbClr val="2C3E50"/>
                </a:solidFill>
                <a:latin typeface="Calibri"/>
              </a:defRPr>
            </a:pPr>
            <a:endParaRPr lang="en-US" altLang="zh-CN" sz="1600" dirty="0"/>
          </a:p>
          <a:p>
            <a:pPr marL="285750" indent="-285750">
              <a:spcAft>
                <a:spcPts val="200"/>
              </a:spcAft>
              <a:buFont typeface="Wingdings" panose="05000000000000000000" pitchFamily="2" charset="2"/>
              <a:buChar char="Ø"/>
              <a:defRPr sz="1200">
                <a:solidFill>
                  <a:srgbClr val="2C3E50"/>
                </a:solidFill>
                <a:latin typeface="Calibri"/>
              </a:defRPr>
            </a:pPr>
            <a:r>
              <a:rPr lang="en-US" altLang="zh-CN" sz="1600" b="1" dirty="0">
                <a:solidFill>
                  <a:srgbClr val="FF0000"/>
                </a:solidFill>
              </a:rPr>
              <a:t>Variation of per-tenant performance: 3%~8%</a:t>
            </a:r>
          </a:p>
          <a:p>
            <a:pPr marL="285750" indent="-285750">
              <a:spcAft>
                <a:spcPts val="200"/>
              </a:spcAft>
              <a:buFont typeface="Wingdings" panose="05000000000000000000" pitchFamily="2" charset="2"/>
              <a:buChar char="Ø"/>
              <a:defRPr sz="1200">
                <a:solidFill>
                  <a:srgbClr val="2C3E50"/>
                </a:solidFill>
                <a:latin typeface="Calibri"/>
              </a:defRPr>
            </a:pPr>
            <a:endParaRPr lang="en-US" altLang="zh-CN" sz="1600" dirty="0"/>
          </a:p>
          <a:p>
            <a:pPr marL="285750" indent="-285750">
              <a:spcAft>
                <a:spcPts val="200"/>
              </a:spcAft>
              <a:buFont typeface="Wingdings" panose="05000000000000000000" pitchFamily="2" charset="2"/>
              <a:buChar char="Ø"/>
              <a:defRPr sz="1200">
                <a:solidFill>
                  <a:srgbClr val="2C3E50"/>
                </a:solidFill>
                <a:latin typeface="Calibri"/>
              </a:defRPr>
            </a:pPr>
            <a:r>
              <a:rPr lang="en-US" altLang="zh-CN" sz="1600" b="1" dirty="0">
                <a:solidFill>
                  <a:srgbClr val="FF0000"/>
                </a:solidFill>
              </a:rPr>
              <a:t>MARL outperforms SAM, Static, and Shared at every tested scale</a:t>
            </a:r>
          </a:p>
          <a:p>
            <a:pPr algn="ctr"/>
            <a:endParaRPr dirty="0"/>
          </a:p>
        </p:txBody>
      </p:sp>
      <p:sp>
        <p:nvSpPr>
          <p:cNvPr id="2" name="Rectangle 1">
            <a:extLst>
              <a:ext uri="{FF2B5EF4-FFF2-40B4-BE49-F238E27FC236}">
                <a16:creationId xmlns:a16="http://schemas.microsoft.com/office/drawing/2014/main" id="{2F2EB5D7-3AD3-30AA-7230-1C407F18FBEE}"/>
              </a:ext>
            </a:extLst>
          </p:cNvPr>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0C4E060-3642-6DD1-BB94-406F443DB33C}"/>
              </a:ext>
            </a:extLst>
          </p:cNvPr>
          <p:cNvSpPr txBox="1"/>
          <p:nvPr/>
        </p:nvSpPr>
        <p:spPr>
          <a:xfrm>
            <a:off x="731520" y="137160"/>
            <a:ext cx="10058400" cy="584775"/>
          </a:xfrm>
          <a:prstGeom prst="rect">
            <a:avLst/>
          </a:prstGeom>
          <a:noFill/>
        </p:spPr>
        <p:txBody>
          <a:bodyPr wrap="square">
            <a:spAutoFit/>
          </a:bodyPr>
          <a:lstStyle/>
          <a:p>
            <a:pPr algn="l">
              <a:defRPr sz="3200" b="1">
                <a:solidFill>
                  <a:srgbClr val="FFFFFF"/>
                </a:solidFill>
                <a:latin typeface="Calibri"/>
              </a:defRPr>
            </a:pPr>
            <a:r>
              <a:rPr dirty="0"/>
              <a:t>Scalabilit</a:t>
            </a:r>
            <a:r>
              <a:rPr lang="en-US" dirty="0"/>
              <a:t>y</a:t>
            </a:r>
            <a:endParaRPr dirty="0"/>
          </a:p>
        </p:txBody>
      </p:sp>
      <p:pic>
        <p:nvPicPr>
          <p:cNvPr id="24" name="图片 23">
            <a:extLst>
              <a:ext uri="{FF2B5EF4-FFF2-40B4-BE49-F238E27FC236}">
                <a16:creationId xmlns:a16="http://schemas.microsoft.com/office/drawing/2014/main" id="{CD691DC1-58E7-BCB1-61B2-BB4355B593A6}"/>
              </a:ext>
            </a:extLst>
          </p:cNvPr>
          <p:cNvPicPr>
            <a:picLocks noChangeAspect="1"/>
          </p:cNvPicPr>
          <p:nvPr/>
        </p:nvPicPr>
        <p:blipFill>
          <a:blip r:embed="rId3"/>
          <a:stretch>
            <a:fillRect/>
          </a:stretch>
        </p:blipFill>
        <p:spPr>
          <a:xfrm>
            <a:off x="8087626" y="3745415"/>
            <a:ext cx="3835792" cy="2557196"/>
          </a:xfrm>
          <a:prstGeom prst="rect">
            <a:avLst/>
          </a:prstGeom>
        </p:spPr>
      </p:pic>
      <p:pic>
        <p:nvPicPr>
          <p:cNvPr id="26" name="图片 25">
            <a:extLst>
              <a:ext uri="{FF2B5EF4-FFF2-40B4-BE49-F238E27FC236}">
                <a16:creationId xmlns:a16="http://schemas.microsoft.com/office/drawing/2014/main" id="{8BBB3AF1-35B5-BD97-D628-D0F64247F930}"/>
              </a:ext>
            </a:extLst>
          </p:cNvPr>
          <p:cNvPicPr>
            <a:picLocks noChangeAspect="1"/>
          </p:cNvPicPr>
          <p:nvPr/>
        </p:nvPicPr>
        <p:blipFill>
          <a:blip r:embed="rId4"/>
          <a:stretch>
            <a:fillRect/>
          </a:stretch>
        </p:blipFill>
        <p:spPr>
          <a:xfrm>
            <a:off x="8403274" y="1181720"/>
            <a:ext cx="3745463" cy="2247278"/>
          </a:xfrm>
          <a:prstGeom prst="rect">
            <a:avLst/>
          </a:prstGeom>
        </p:spPr>
      </p:pic>
      <p:pic>
        <p:nvPicPr>
          <p:cNvPr id="28" name="图片 27">
            <a:extLst>
              <a:ext uri="{FF2B5EF4-FFF2-40B4-BE49-F238E27FC236}">
                <a16:creationId xmlns:a16="http://schemas.microsoft.com/office/drawing/2014/main" id="{F024D157-75AE-36E9-C316-DF102B7F16BA}"/>
              </a:ext>
            </a:extLst>
          </p:cNvPr>
          <p:cNvPicPr>
            <a:picLocks noChangeAspect="1"/>
          </p:cNvPicPr>
          <p:nvPr/>
        </p:nvPicPr>
        <p:blipFill>
          <a:blip r:embed="rId5"/>
          <a:stretch>
            <a:fillRect/>
          </a:stretch>
        </p:blipFill>
        <p:spPr>
          <a:xfrm>
            <a:off x="4409573" y="3745416"/>
            <a:ext cx="3835791" cy="2557195"/>
          </a:xfrm>
          <a:prstGeom prst="rect">
            <a:avLst/>
          </a:prstGeom>
        </p:spPr>
      </p:pic>
      <p:pic>
        <p:nvPicPr>
          <p:cNvPr id="30" name="图片 29">
            <a:extLst>
              <a:ext uri="{FF2B5EF4-FFF2-40B4-BE49-F238E27FC236}">
                <a16:creationId xmlns:a16="http://schemas.microsoft.com/office/drawing/2014/main" id="{258222AB-7638-9D29-2737-A94DDA13EFB8}"/>
              </a:ext>
            </a:extLst>
          </p:cNvPr>
          <p:cNvPicPr>
            <a:picLocks noChangeAspect="1"/>
          </p:cNvPicPr>
          <p:nvPr/>
        </p:nvPicPr>
        <p:blipFill>
          <a:blip r:embed="rId6"/>
          <a:stretch>
            <a:fillRect/>
          </a:stretch>
        </p:blipFill>
        <p:spPr>
          <a:xfrm>
            <a:off x="4660050" y="1181722"/>
            <a:ext cx="3745463" cy="2247278"/>
          </a:xfrm>
          <a:prstGeom prst="rect">
            <a:avLst/>
          </a:prstGeom>
        </p:spPr>
      </p:pic>
      <p:pic>
        <p:nvPicPr>
          <p:cNvPr id="32" name="图片 31">
            <a:extLst>
              <a:ext uri="{FF2B5EF4-FFF2-40B4-BE49-F238E27FC236}">
                <a16:creationId xmlns:a16="http://schemas.microsoft.com/office/drawing/2014/main" id="{1A7582A3-B201-52DC-03B6-FD6B584A2D14}"/>
              </a:ext>
            </a:extLst>
          </p:cNvPr>
          <p:cNvPicPr>
            <a:picLocks noChangeAspect="1"/>
          </p:cNvPicPr>
          <p:nvPr/>
        </p:nvPicPr>
        <p:blipFill>
          <a:blip r:embed="rId7"/>
          <a:stretch>
            <a:fillRect/>
          </a:stretch>
        </p:blipFill>
        <p:spPr>
          <a:xfrm>
            <a:off x="731520" y="3794512"/>
            <a:ext cx="3835792" cy="2557194"/>
          </a:xfrm>
          <a:prstGeom prst="rect">
            <a:avLst/>
          </a:prstGeom>
        </p:spPr>
      </p:pic>
    </p:spTree>
    <p:extLst>
      <p:ext uri="{BB962C8B-B14F-4D97-AF65-F5344CB8AC3E}">
        <p14:creationId xmlns:p14="http://schemas.microsoft.com/office/powerpoint/2010/main" val="1427091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584775"/>
          </a:xfrm>
          <a:prstGeom prst="rect">
            <a:avLst/>
          </a:prstGeom>
          <a:noFill/>
        </p:spPr>
        <p:txBody>
          <a:bodyPr wrap="square">
            <a:spAutoFit/>
          </a:bodyPr>
          <a:lstStyle/>
          <a:p>
            <a:pPr algn="l">
              <a:defRPr sz="3200" b="1">
                <a:solidFill>
                  <a:srgbClr val="FFFFFF"/>
                </a:solidFill>
                <a:latin typeface="Calibri"/>
              </a:defRPr>
            </a:pPr>
            <a:r>
              <a:rPr dirty="0"/>
              <a:t>Overhead</a:t>
            </a:r>
          </a:p>
        </p:txBody>
      </p:sp>
      <p:sp>
        <p:nvSpPr>
          <p:cNvPr id="5" name="Shape 2">
            <a:extLst>
              <a:ext uri="{FF2B5EF4-FFF2-40B4-BE49-F238E27FC236}">
                <a16:creationId xmlns:a16="http://schemas.microsoft.com/office/drawing/2014/main" id="{FD806018-D4C4-B378-D542-6D105969C0FD}"/>
              </a:ext>
            </a:extLst>
          </p:cNvPr>
          <p:cNvSpPr/>
          <p:nvPr/>
        </p:nvSpPr>
        <p:spPr>
          <a:xfrm>
            <a:off x="406400" y="1802374"/>
            <a:ext cx="2860166" cy="2423249"/>
          </a:xfrm>
          <a:prstGeom prst="rect">
            <a:avLst/>
          </a:prstGeom>
          <a:solidFill>
            <a:srgbClr val="FFFFFF"/>
          </a:solidFill>
          <a:ln/>
          <a:effectLst>
            <a:outerShdw blurRad="101600" dist="25400" dir="8100000" algn="bl" rotWithShape="0">
              <a:srgbClr val="000000">
                <a:alpha val="12000"/>
              </a:srgbClr>
            </a:outerShdw>
          </a:effectLst>
        </p:spPr>
        <p:txBody>
          <a:bodyPr/>
          <a:lstStyle/>
          <a:p>
            <a:endParaRPr lang="zh-CN" altLang="en-US"/>
          </a:p>
        </p:txBody>
      </p:sp>
      <p:sp>
        <p:nvSpPr>
          <p:cNvPr id="6" name="Shape 3">
            <a:extLst>
              <a:ext uri="{FF2B5EF4-FFF2-40B4-BE49-F238E27FC236}">
                <a16:creationId xmlns:a16="http://schemas.microsoft.com/office/drawing/2014/main" id="{CA641FCE-61D0-EC45-9A57-EA3EE1292C60}"/>
              </a:ext>
            </a:extLst>
          </p:cNvPr>
          <p:cNvSpPr/>
          <p:nvPr/>
        </p:nvSpPr>
        <p:spPr>
          <a:xfrm>
            <a:off x="406400" y="1802375"/>
            <a:ext cx="2860166" cy="53665"/>
          </a:xfrm>
          <a:prstGeom prst="rect">
            <a:avLst/>
          </a:prstGeom>
          <a:solidFill>
            <a:srgbClr val="0891B2"/>
          </a:solidFill>
          <a:ln/>
        </p:spPr>
        <p:txBody>
          <a:bodyPr/>
          <a:lstStyle/>
          <a:p>
            <a:endParaRPr lang="zh-CN" altLang="en-US"/>
          </a:p>
        </p:txBody>
      </p:sp>
      <p:sp>
        <p:nvSpPr>
          <p:cNvPr id="7" name="Text 4">
            <a:extLst>
              <a:ext uri="{FF2B5EF4-FFF2-40B4-BE49-F238E27FC236}">
                <a16:creationId xmlns:a16="http://schemas.microsoft.com/office/drawing/2014/main" id="{5DD8F965-8965-8559-BEA4-C015FC822F1D}"/>
              </a:ext>
            </a:extLst>
          </p:cNvPr>
          <p:cNvSpPr/>
          <p:nvPr/>
        </p:nvSpPr>
        <p:spPr>
          <a:xfrm>
            <a:off x="589279" y="1985254"/>
            <a:ext cx="2472346" cy="276943"/>
          </a:xfrm>
          <a:prstGeom prst="rect">
            <a:avLst/>
          </a:prstGeom>
          <a:noFill/>
          <a:ln/>
        </p:spPr>
        <p:txBody>
          <a:bodyPr wrap="square" lIns="0" tIns="0" rIns="0" bIns="0" rtlCol="0" anchor="ctr"/>
          <a:lstStyle/>
          <a:p>
            <a:r>
              <a:rPr lang="en-US" sz="2400" b="1" dirty="0">
                <a:solidFill>
                  <a:srgbClr val="0891B2"/>
                </a:solidFill>
                <a:latin typeface="Calibri" pitchFamily="34" charset="0"/>
                <a:ea typeface="Calibri" pitchFamily="34" charset="-122"/>
                <a:cs typeface="Calibri" pitchFamily="34" charset="-120"/>
              </a:rPr>
              <a:t>Pre-training</a:t>
            </a:r>
            <a:endParaRPr lang="en-US" dirty="0"/>
          </a:p>
        </p:txBody>
      </p:sp>
      <p:sp>
        <p:nvSpPr>
          <p:cNvPr id="8" name="Text 5">
            <a:extLst>
              <a:ext uri="{FF2B5EF4-FFF2-40B4-BE49-F238E27FC236}">
                <a16:creationId xmlns:a16="http://schemas.microsoft.com/office/drawing/2014/main" id="{0899FC24-2623-0058-79F7-07F5B638B380}"/>
              </a:ext>
            </a:extLst>
          </p:cNvPr>
          <p:cNvSpPr/>
          <p:nvPr/>
        </p:nvSpPr>
        <p:spPr>
          <a:xfrm>
            <a:off x="589279" y="2442454"/>
            <a:ext cx="2472346" cy="1730891"/>
          </a:xfrm>
          <a:prstGeom prst="rect">
            <a:avLst/>
          </a:prstGeom>
          <a:noFill/>
          <a:ln/>
        </p:spPr>
        <p:txBody>
          <a:bodyPr wrap="square" lIns="0" tIns="0" rIns="0" bIns="0" rtlCol="0" anchor="t"/>
          <a:lstStyle/>
          <a:p>
            <a:pPr marL="342900" indent="-342900">
              <a:lnSpc>
                <a:spcPct val="150000"/>
              </a:lnSpc>
              <a:buSzPct val="100000"/>
              <a:buFont typeface="Wingdings" panose="05000000000000000000" pitchFamily="2" charset="2"/>
              <a:buChar char="Ø"/>
            </a:pPr>
            <a:r>
              <a:rPr lang="en-US" dirty="0">
                <a:solidFill>
                  <a:srgbClr val="334155"/>
                </a:solidFill>
                <a:latin typeface="Calibri" pitchFamily="34" charset="0"/>
                <a:ea typeface="Calibri" pitchFamily="34" charset="-122"/>
                <a:cs typeface="Calibri" pitchFamily="34" charset="-120"/>
              </a:rPr>
              <a:t>4 hours offline in Python simulator</a:t>
            </a:r>
            <a:endParaRPr lang="en-US" dirty="0"/>
          </a:p>
          <a:p>
            <a:pPr marL="285750" indent="-285750">
              <a:lnSpc>
                <a:spcPct val="150000"/>
              </a:lnSpc>
              <a:buSzPct val="100000"/>
              <a:buFont typeface="Wingdings" panose="05000000000000000000" pitchFamily="2" charset="2"/>
              <a:buChar char="Ø"/>
            </a:pPr>
            <a:endParaRPr lang="en-US" dirty="0"/>
          </a:p>
        </p:txBody>
      </p:sp>
      <p:sp>
        <p:nvSpPr>
          <p:cNvPr id="9" name="Shape 6">
            <a:extLst>
              <a:ext uri="{FF2B5EF4-FFF2-40B4-BE49-F238E27FC236}">
                <a16:creationId xmlns:a16="http://schemas.microsoft.com/office/drawing/2014/main" id="{222820F3-030D-815A-6C87-5873FFAFA324}"/>
              </a:ext>
            </a:extLst>
          </p:cNvPr>
          <p:cNvSpPr/>
          <p:nvPr/>
        </p:nvSpPr>
        <p:spPr>
          <a:xfrm>
            <a:off x="3466946" y="1802375"/>
            <a:ext cx="4559300" cy="2420748"/>
          </a:xfrm>
          <a:prstGeom prst="rect">
            <a:avLst/>
          </a:prstGeom>
          <a:solidFill>
            <a:srgbClr val="FFFFFF"/>
          </a:solidFill>
          <a:ln/>
          <a:effectLst>
            <a:outerShdw blurRad="101600" dist="25400" dir="8100000" algn="bl" rotWithShape="0">
              <a:srgbClr val="000000">
                <a:alpha val="12000"/>
              </a:srgbClr>
            </a:outerShdw>
          </a:effectLst>
        </p:spPr>
        <p:txBody>
          <a:bodyPr/>
          <a:lstStyle/>
          <a:p>
            <a:endParaRPr lang="zh-CN" altLang="en-US"/>
          </a:p>
        </p:txBody>
      </p:sp>
      <p:sp>
        <p:nvSpPr>
          <p:cNvPr id="10" name="Shape 7">
            <a:extLst>
              <a:ext uri="{FF2B5EF4-FFF2-40B4-BE49-F238E27FC236}">
                <a16:creationId xmlns:a16="http://schemas.microsoft.com/office/drawing/2014/main" id="{F6E61FEA-03E4-7455-0D05-0EA51501AE37}"/>
              </a:ext>
            </a:extLst>
          </p:cNvPr>
          <p:cNvSpPr/>
          <p:nvPr/>
        </p:nvSpPr>
        <p:spPr>
          <a:xfrm>
            <a:off x="3466946" y="1802375"/>
            <a:ext cx="4559300" cy="53609"/>
          </a:xfrm>
          <a:prstGeom prst="rect">
            <a:avLst/>
          </a:prstGeom>
          <a:solidFill>
            <a:srgbClr val="F79646"/>
          </a:solidFill>
          <a:ln/>
        </p:spPr>
        <p:txBody>
          <a:bodyPr/>
          <a:lstStyle/>
          <a:p>
            <a:endParaRPr lang="zh-CN" altLang="en-US"/>
          </a:p>
        </p:txBody>
      </p:sp>
      <p:sp>
        <p:nvSpPr>
          <p:cNvPr id="14" name="Text 8">
            <a:extLst>
              <a:ext uri="{FF2B5EF4-FFF2-40B4-BE49-F238E27FC236}">
                <a16:creationId xmlns:a16="http://schemas.microsoft.com/office/drawing/2014/main" id="{C6A1509D-6827-E09A-69C2-A7C520E3A6A4}"/>
              </a:ext>
            </a:extLst>
          </p:cNvPr>
          <p:cNvSpPr/>
          <p:nvPr/>
        </p:nvSpPr>
        <p:spPr>
          <a:xfrm>
            <a:off x="3649826" y="1985255"/>
            <a:ext cx="3941090" cy="276656"/>
          </a:xfrm>
          <a:prstGeom prst="rect">
            <a:avLst/>
          </a:prstGeom>
          <a:noFill/>
          <a:ln/>
        </p:spPr>
        <p:txBody>
          <a:bodyPr wrap="square" lIns="0" tIns="0" rIns="0" bIns="0" rtlCol="0" anchor="ctr"/>
          <a:lstStyle/>
          <a:p>
            <a:r>
              <a:rPr lang="en-US" sz="2400" b="1" dirty="0">
                <a:solidFill>
                  <a:srgbClr val="F79646"/>
                </a:solidFill>
                <a:latin typeface="Calibri" pitchFamily="34" charset="0"/>
                <a:ea typeface="Calibri" pitchFamily="34" charset="-122"/>
                <a:cs typeface="Calibri" pitchFamily="34" charset="-120"/>
              </a:rPr>
              <a:t>Inference</a:t>
            </a:r>
            <a:endParaRPr lang="en-US" dirty="0">
              <a:solidFill>
                <a:srgbClr val="F79646"/>
              </a:solidFill>
            </a:endParaRPr>
          </a:p>
        </p:txBody>
      </p:sp>
      <p:sp>
        <p:nvSpPr>
          <p:cNvPr id="15" name="Text 9">
            <a:extLst>
              <a:ext uri="{FF2B5EF4-FFF2-40B4-BE49-F238E27FC236}">
                <a16:creationId xmlns:a16="http://schemas.microsoft.com/office/drawing/2014/main" id="{E1A716C2-F25F-E3DE-0A92-9C519815D354}"/>
              </a:ext>
            </a:extLst>
          </p:cNvPr>
          <p:cNvSpPr/>
          <p:nvPr/>
        </p:nvSpPr>
        <p:spPr>
          <a:xfrm>
            <a:off x="3649826" y="2442455"/>
            <a:ext cx="3941090" cy="1729105"/>
          </a:xfrm>
          <a:prstGeom prst="rect">
            <a:avLst/>
          </a:prstGeom>
          <a:noFill/>
          <a:ln/>
        </p:spPr>
        <p:txBody>
          <a:bodyPr wrap="square" lIns="0" tIns="0" rIns="0" bIns="0" rtlCol="0" anchor="t"/>
          <a:lstStyle/>
          <a:p>
            <a:pPr marL="342900" indent="-342900">
              <a:lnSpc>
                <a:spcPct val="150000"/>
              </a:lnSpc>
              <a:buSzPct val="100000"/>
              <a:buFont typeface="Wingdings" panose="05000000000000000000" pitchFamily="2" charset="2"/>
              <a:buChar char="Ø"/>
            </a:pPr>
            <a:r>
              <a:rPr lang="en-US" dirty="0">
                <a:solidFill>
                  <a:srgbClr val="334155"/>
                </a:solidFill>
                <a:latin typeface="Calibri" pitchFamily="34" charset="0"/>
                <a:ea typeface="Calibri" pitchFamily="34" charset="-122"/>
                <a:cs typeface="Calibri" pitchFamily="34" charset="-120"/>
              </a:rPr>
              <a:t>0.9 ms per iteration (5s) per model</a:t>
            </a:r>
            <a:endParaRPr lang="en-US" dirty="0"/>
          </a:p>
          <a:p>
            <a:pPr marL="342900" indent="-342900">
              <a:lnSpc>
                <a:spcPct val="150000"/>
              </a:lnSpc>
              <a:buSzPct val="100000"/>
              <a:buFont typeface="Wingdings" panose="05000000000000000000" pitchFamily="2" charset="2"/>
              <a:buChar char="Ø"/>
            </a:pPr>
            <a:r>
              <a:rPr lang="en-US" dirty="0">
                <a:solidFill>
                  <a:srgbClr val="334155"/>
                </a:solidFill>
                <a:latin typeface="Calibri" pitchFamily="34" charset="0"/>
                <a:ea typeface="Calibri" pitchFamily="34" charset="-122"/>
                <a:cs typeface="Calibri" pitchFamily="34" charset="-120"/>
              </a:rPr>
              <a:t>Inference off critical path</a:t>
            </a:r>
          </a:p>
          <a:p>
            <a:pPr marL="342900" indent="-342900">
              <a:lnSpc>
                <a:spcPct val="150000"/>
              </a:lnSpc>
              <a:buSzPct val="100000"/>
              <a:buFont typeface="Wingdings" panose="05000000000000000000" pitchFamily="2" charset="2"/>
              <a:buChar char="Ø"/>
            </a:pPr>
            <a:r>
              <a:rPr lang="en-US" altLang="zh-CN" dirty="0">
                <a:solidFill>
                  <a:srgbClr val="334155"/>
                </a:solidFill>
                <a:latin typeface="Calibri" pitchFamily="34" charset="0"/>
                <a:ea typeface="Calibri" pitchFamily="34" charset="-122"/>
                <a:cs typeface="Calibri" pitchFamily="34" charset="-120"/>
              </a:rPr>
              <a:t>SLA measurement: 0 overhead</a:t>
            </a:r>
            <a:endParaRPr lang="en-US" dirty="0">
              <a:solidFill>
                <a:srgbClr val="334155"/>
              </a:solidFill>
              <a:latin typeface="Calibri" pitchFamily="34" charset="0"/>
              <a:ea typeface="Calibri" pitchFamily="34" charset="-122"/>
              <a:cs typeface="Calibri" pitchFamily="34" charset="-120"/>
            </a:endParaRPr>
          </a:p>
          <a:p>
            <a:pPr marL="342900" indent="-342900">
              <a:lnSpc>
                <a:spcPct val="150000"/>
              </a:lnSpc>
              <a:buSzPct val="100000"/>
              <a:buFont typeface="Wingdings" panose="05000000000000000000" pitchFamily="2" charset="2"/>
              <a:buChar char="Ø"/>
            </a:pPr>
            <a:r>
              <a:rPr lang="en-US" altLang="zh-CN" dirty="0">
                <a:solidFill>
                  <a:srgbClr val="334155"/>
                </a:solidFill>
                <a:latin typeface="Calibri" pitchFamily="34" charset="0"/>
                <a:ea typeface="Calibri" pitchFamily="34" charset="-122"/>
                <a:cs typeface="Calibri" pitchFamily="34" charset="-120"/>
              </a:rPr>
              <a:t>Evenly distributed across 4 CPU cores</a:t>
            </a:r>
            <a:endParaRPr lang="en-US" altLang="zh-CN" dirty="0"/>
          </a:p>
          <a:p>
            <a:pPr marL="342900" indent="-342900">
              <a:lnSpc>
                <a:spcPct val="150000"/>
              </a:lnSpc>
              <a:buSzPct val="100000"/>
              <a:buFont typeface="Wingdings" panose="05000000000000000000" pitchFamily="2" charset="2"/>
              <a:buChar char="Ø"/>
            </a:pPr>
            <a:endParaRPr lang="en-US" dirty="0"/>
          </a:p>
        </p:txBody>
      </p:sp>
      <p:sp>
        <p:nvSpPr>
          <p:cNvPr id="16" name="Shape 10">
            <a:extLst>
              <a:ext uri="{FF2B5EF4-FFF2-40B4-BE49-F238E27FC236}">
                <a16:creationId xmlns:a16="http://schemas.microsoft.com/office/drawing/2014/main" id="{1FD1C486-85BC-1B70-DB4A-DB9CF98E42A8}"/>
              </a:ext>
            </a:extLst>
          </p:cNvPr>
          <p:cNvSpPr/>
          <p:nvPr/>
        </p:nvSpPr>
        <p:spPr>
          <a:xfrm>
            <a:off x="8226626" y="1810968"/>
            <a:ext cx="3654039" cy="2423249"/>
          </a:xfrm>
          <a:prstGeom prst="rect">
            <a:avLst/>
          </a:prstGeom>
          <a:solidFill>
            <a:srgbClr val="FFFFFF"/>
          </a:solidFill>
          <a:ln/>
          <a:effectLst>
            <a:outerShdw blurRad="101600" dist="25400" dir="8100000" algn="bl" rotWithShape="0">
              <a:srgbClr val="000000">
                <a:alpha val="12000"/>
              </a:srgbClr>
            </a:outerShdw>
          </a:effectLst>
        </p:spPr>
        <p:txBody>
          <a:bodyPr/>
          <a:lstStyle/>
          <a:p>
            <a:endParaRPr lang="zh-CN" altLang="en-US"/>
          </a:p>
        </p:txBody>
      </p:sp>
      <p:sp>
        <p:nvSpPr>
          <p:cNvPr id="17" name="Shape 11">
            <a:extLst>
              <a:ext uri="{FF2B5EF4-FFF2-40B4-BE49-F238E27FC236}">
                <a16:creationId xmlns:a16="http://schemas.microsoft.com/office/drawing/2014/main" id="{9BFEA72D-FF22-DCBA-FEEB-0A16FEE519BC}"/>
              </a:ext>
            </a:extLst>
          </p:cNvPr>
          <p:cNvSpPr/>
          <p:nvPr/>
        </p:nvSpPr>
        <p:spPr>
          <a:xfrm>
            <a:off x="8226626" y="1810969"/>
            <a:ext cx="3654039" cy="53609"/>
          </a:xfrm>
          <a:prstGeom prst="rect">
            <a:avLst/>
          </a:prstGeom>
          <a:solidFill>
            <a:srgbClr val="10B981"/>
          </a:solidFill>
          <a:ln/>
        </p:spPr>
        <p:txBody>
          <a:bodyPr/>
          <a:lstStyle/>
          <a:p>
            <a:endParaRPr lang="zh-CN" altLang="en-US"/>
          </a:p>
        </p:txBody>
      </p:sp>
      <p:sp>
        <p:nvSpPr>
          <p:cNvPr id="18" name="Text 12">
            <a:extLst>
              <a:ext uri="{FF2B5EF4-FFF2-40B4-BE49-F238E27FC236}">
                <a16:creationId xmlns:a16="http://schemas.microsoft.com/office/drawing/2014/main" id="{61740751-43F3-32DA-07D5-8A96857EB575}"/>
              </a:ext>
            </a:extLst>
          </p:cNvPr>
          <p:cNvSpPr/>
          <p:nvPr/>
        </p:nvSpPr>
        <p:spPr>
          <a:xfrm>
            <a:off x="8409505" y="1993849"/>
            <a:ext cx="3158577" cy="276943"/>
          </a:xfrm>
          <a:prstGeom prst="rect">
            <a:avLst/>
          </a:prstGeom>
          <a:noFill/>
          <a:ln/>
        </p:spPr>
        <p:txBody>
          <a:bodyPr wrap="square" lIns="0" tIns="0" rIns="0" bIns="0" rtlCol="0" anchor="ctr"/>
          <a:lstStyle/>
          <a:p>
            <a:r>
              <a:rPr lang="en-US" sz="2400" b="1" dirty="0">
                <a:solidFill>
                  <a:srgbClr val="10B981"/>
                </a:solidFill>
                <a:latin typeface="Calibri" pitchFamily="34" charset="0"/>
                <a:ea typeface="Calibri" pitchFamily="34" charset="-122"/>
                <a:cs typeface="Calibri" pitchFamily="34" charset="-120"/>
              </a:rPr>
              <a:t>Fine-tuning</a:t>
            </a:r>
            <a:endParaRPr lang="en-US" dirty="0"/>
          </a:p>
        </p:txBody>
      </p:sp>
      <p:sp>
        <p:nvSpPr>
          <p:cNvPr id="19" name="Text 13">
            <a:extLst>
              <a:ext uri="{FF2B5EF4-FFF2-40B4-BE49-F238E27FC236}">
                <a16:creationId xmlns:a16="http://schemas.microsoft.com/office/drawing/2014/main" id="{0B0C27CE-C30C-9FB6-7557-7691B8E9BFBE}"/>
              </a:ext>
            </a:extLst>
          </p:cNvPr>
          <p:cNvSpPr/>
          <p:nvPr/>
        </p:nvSpPr>
        <p:spPr>
          <a:xfrm>
            <a:off x="8409505" y="2451049"/>
            <a:ext cx="3158577" cy="1730892"/>
          </a:xfrm>
          <a:prstGeom prst="rect">
            <a:avLst/>
          </a:prstGeom>
          <a:noFill/>
          <a:ln/>
        </p:spPr>
        <p:txBody>
          <a:bodyPr wrap="square" lIns="0" tIns="0" rIns="0" bIns="0" rtlCol="0" anchor="t"/>
          <a:lstStyle/>
          <a:p>
            <a:pPr marL="342900" indent="-342900">
              <a:lnSpc>
                <a:spcPct val="150000"/>
              </a:lnSpc>
              <a:buSzPct val="100000"/>
              <a:buFont typeface="Wingdings" panose="05000000000000000000" pitchFamily="2" charset="2"/>
              <a:buChar char="Ø"/>
            </a:pPr>
            <a:r>
              <a:rPr lang="en-US" dirty="0">
                <a:solidFill>
                  <a:srgbClr val="334155"/>
                </a:solidFill>
                <a:latin typeface="Calibri" pitchFamily="34" charset="0"/>
                <a:ea typeface="Calibri" pitchFamily="34" charset="-122"/>
                <a:cs typeface="Calibri" pitchFamily="34" charset="-120"/>
              </a:rPr>
              <a:t>20.3 ms every 10 </a:t>
            </a:r>
            <a:r>
              <a:rPr lang="en-US" altLang="zh-CN" dirty="0">
                <a:solidFill>
                  <a:srgbClr val="334155"/>
                </a:solidFill>
                <a:latin typeface="Calibri" pitchFamily="34" charset="0"/>
                <a:ea typeface="Calibri" pitchFamily="34" charset="-122"/>
                <a:cs typeface="Calibri" pitchFamily="34" charset="-120"/>
              </a:rPr>
              <a:t>iterations </a:t>
            </a:r>
          </a:p>
          <a:p>
            <a:pPr marL="342900" indent="-342900">
              <a:lnSpc>
                <a:spcPct val="150000"/>
              </a:lnSpc>
              <a:buSzPct val="100000"/>
              <a:buFont typeface="Wingdings" panose="05000000000000000000" pitchFamily="2" charset="2"/>
              <a:buChar char="Ø"/>
            </a:pPr>
            <a:r>
              <a:rPr lang="en-US" dirty="0">
                <a:solidFill>
                  <a:srgbClr val="334155"/>
                </a:solidFill>
                <a:latin typeface="Calibri" pitchFamily="34" charset="0"/>
                <a:ea typeface="Calibri" pitchFamily="34" charset="-122"/>
                <a:cs typeface="Calibri" pitchFamily="34" charset="-120"/>
              </a:rPr>
              <a:t>Fine-tuning off critical path</a:t>
            </a:r>
            <a:endParaRPr lang="en-US" dirty="0"/>
          </a:p>
          <a:p>
            <a:pPr marL="342900" indent="-342900">
              <a:lnSpc>
                <a:spcPct val="150000"/>
              </a:lnSpc>
              <a:buSzPct val="100000"/>
              <a:buFont typeface="Wingdings" panose="05000000000000000000" pitchFamily="2" charset="2"/>
              <a:buChar char="Ø"/>
            </a:pPr>
            <a:r>
              <a:rPr lang="en-US" dirty="0">
                <a:solidFill>
                  <a:srgbClr val="334155"/>
                </a:solidFill>
                <a:latin typeface="Calibri" pitchFamily="34" charset="0"/>
                <a:ea typeface="Calibri" pitchFamily="34" charset="-122"/>
                <a:cs typeface="Calibri" pitchFamily="34" charset="-120"/>
              </a:rPr>
              <a:t>Negligible runtime impact</a:t>
            </a:r>
            <a:endParaRPr lang="en-US" dirty="0"/>
          </a:p>
        </p:txBody>
      </p:sp>
      <p:sp>
        <p:nvSpPr>
          <p:cNvPr id="11" name="Rectangle 27">
            <a:extLst>
              <a:ext uri="{FF2B5EF4-FFF2-40B4-BE49-F238E27FC236}">
                <a16:creationId xmlns:a16="http://schemas.microsoft.com/office/drawing/2014/main" id="{565887C4-10E9-8E5D-C98D-E260F5CDA9FC}"/>
              </a:ext>
            </a:extLst>
          </p:cNvPr>
          <p:cNvSpPr/>
          <p:nvPr/>
        </p:nvSpPr>
        <p:spPr>
          <a:xfrm>
            <a:off x="2784985" y="4765002"/>
            <a:ext cx="5951469" cy="1088759"/>
          </a:xfrm>
          <a:prstGeom prst="rect">
            <a:avLst/>
          </a:prstGeom>
          <a:solidFill>
            <a:srgbClr val="F2F6FB"/>
          </a:solidFill>
          <a:ln w="6350">
            <a:solidFill>
              <a:srgbClr val="D5DDE8"/>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200"/>
              </a:spcAft>
              <a:defRPr sz="1200">
                <a:solidFill>
                  <a:srgbClr val="2C3E50"/>
                </a:solidFill>
                <a:latin typeface="Calibri"/>
              </a:defRPr>
            </a:pPr>
            <a:endParaRPr lang="en-US" altLang="zh-CN" sz="1600" dirty="0"/>
          </a:p>
          <a:p>
            <a:pPr algn="ctr"/>
            <a:r>
              <a:rPr lang="en-US" altLang="zh-CN" b="1" dirty="0">
                <a:solidFill>
                  <a:srgbClr val="FF0000"/>
                </a:solidFill>
              </a:rPr>
              <a:t>MARL is lightweight and introduces minimal overhead</a:t>
            </a:r>
          </a:p>
          <a:p>
            <a:pPr algn="ct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defRPr sz="3200" b="1">
                <a:solidFill>
                  <a:srgbClr val="FFFFFF"/>
                </a:solidFill>
                <a:latin typeface="Calibri"/>
              </a:defRPr>
            </a:pPr>
            <a:r>
              <a:rPr dirty="0"/>
              <a:t>Conclusion &amp; Future Work</a:t>
            </a:r>
          </a:p>
        </p:txBody>
      </p:sp>
      <p:sp>
        <p:nvSpPr>
          <p:cNvPr id="5" name="TextBox 4"/>
          <p:cNvSpPr txBox="1"/>
          <p:nvPr/>
        </p:nvSpPr>
        <p:spPr>
          <a:xfrm>
            <a:off x="731776" y="1363077"/>
            <a:ext cx="4937760" cy="461665"/>
          </a:xfrm>
          <a:prstGeom prst="rect">
            <a:avLst/>
          </a:prstGeom>
          <a:noFill/>
        </p:spPr>
        <p:txBody>
          <a:bodyPr wrap="square">
            <a:spAutoFit/>
          </a:bodyPr>
          <a:lstStyle/>
          <a:p>
            <a:pPr algn="l">
              <a:defRPr sz="2000" b="1">
                <a:solidFill>
                  <a:srgbClr val="1B3A5C"/>
                </a:solidFill>
                <a:latin typeface="Calibri"/>
              </a:defRPr>
            </a:pPr>
            <a:r>
              <a:rPr sz="2400" dirty="0"/>
              <a:t>Contributions</a:t>
            </a:r>
          </a:p>
        </p:txBody>
      </p:sp>
      <p:sp>
        <p:nvSpPr>
          <p:cNvPr id="8" name="TextBox 7"/>
          <p:cNvSpPr txBox="1"/>
          <p:nvPr/>
        </p:nvSpPr>
        <p:spPr>
          <a:xfrm>
            <a:off x="731520" y="3508217"/>
            <a:ext cx="5197678" cy="461665"/>
          </a:xfrm>
          <a:prstGeom prst="rect">
            <a:avLst/>
          </a:prstGeom>
          <a:noFill/>
        </p:spPr>
        <p:txBody>
          <a:bodyPr wrap="square">
            <a:spAutoFit/>
          </a:bodyPr>
          <a:lstStyle/>
          <a:p>
            <a:pPr algn="l">
              <a:defRPr sz="2000" b="1">
                <a:solidFill>
                  <a:srgbClr val="1B3A5C"/>
                </a:solidFill>
                <a:latin typeface="Calibri"/>
              </a:defRPr>
            </a:pPr>
            <a:r>
              <a:rPr sz="2400" dirty="0"/>
              <a:t>Future Work</a:t>
            </a:r>
          </a:p>
        </p:txBody>
      </p:sp>
      <p:sp>
        <p:nvSpPr>
          <p:cNvPr id="7" name="文本框 6">
            <a:extLst>
              <a:ext uri="{FF2B5EF4-FFF2-40B4-BE49-F238E27FC236}">
                <a16:creationId xmlns:a16="http://schemas.microsoft.com/office/drawing/2014/main" id="{C8947969-0302-1878-CC8D-0A505EE10A43}"/>
              </a:ext>
            </a:extLst>
          </p:cNvPr>
          <p:cNvSpPr txBox="1"/>
          <p:nvPr/>
        </p:nvSpPr>
        <p:spPr>
          <a:xfrm>
            <a:off x="869832" y="3969882"/>
            <a:ext cx="10133704" cy="2031325"/>
          </a:xfrm>
          <a:prstGeom prst="rect">
            <a:avLst/>
          </a:prstGeom>
          <a:noFill/>
        </p:spPr>
        <p:txBody>
          <a:bodyPr wrap="square">
            <a:spAutoFit/>
          </a:bodyPr>
          <a:lstStyle/>
          <a:p>
            <a:pPr marL="285750" indent="-285750">
              <a:buFont typeface="Wingdings" panose="05000000000000000000" pitchFamily="2" charset="2"/>
              <a:buChar char="Ø"/>
            </a:pPr>
            <a:r>
              <a:rPr lang="en-US" altLang="zh-CN" dirty="0"/>
              <a:t>Multi-dimensional resource coordination (CPU, I/O, network)</a:t>
            </a:r>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en-US" altLang="zh-CN" dirty="0"/>
              <a:t>Decentralized agent communication with state embedding exchange</a:t>
            </a:r>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en-US" altLang="zh-CN" dirty="0"/>
              <a:t>Proactive resource negotiation among tenants</a:t>
            </a:r>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en-US" altLang="zh-CN" dirty="0"/>
              <a:t>Broader workload types and cloud deployment scenarios</a:t>
            </a:r>
          </a:p>
        </p:txBody>
      </p:sp>
      <p:sp>
        <p:nvSpPr>
          <p:cNvPr id="11" name="文本框 10">
            <a:extLst>
              <a:ext uri="{FF2B5EF4-FFF2-40B4-BE49-F238E27FC236}">
                <a16:creationId xmlns:a16="http://schemas.microsoft.com/office/drawing/2014/main" id="{AE980F70-C8C9-729F-49DD-58F7EAD6386D}"/>
              </a:ext>
            </a:extLst>
          </p:cNvPr>
          <p:cNvSpPr txBox="1"/>
          <p:nvPr/>
        </p:nvSpPr>
        <p:spPr>
          <a:xfrm>
            <a:off x="869832" y="1824742"/>
            <a:ext cx="11532198" cy="1477328"/>
          </a:xfrm>
          <a:prstGeom prst="rect">
            <a:avLst/>
          </a:prstGeom>
          <a:noFill/>
        </p:spPr>
        <p:txBody>
          <a:bodyPr wrap="square">
            <a:spAutoFit/>
          </a:bodyPr>
          <a:lstStyle/>
          <a:p>
            <a:pPr marL="285750" indent="-285750">
              <a:buFont typeface="Wingdings" panose="05000000000000000000" pitchFamily="2" charset="2"/>
              <a:buChar char="Ø"/>
            </a:pPr>
            <a:r>
              <a:rPr lang="en-US" altLang="zh-CN" dirty="0"/>
              <a:t>MARL framework for multi-tenant buffer management</a:t>
            </a:r>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en-US" altLang="zh-CN" dirty="0"/>
              <a:t>SLA-aware cost model: hit ratios to economic penalties</a:t>
            </a:r>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en-US" altLang="zh-CN" dirty="0"/>
              <a:t>Implementation in OpenGauss, up to 26.3% SLA cost reduction, 72.2% throughput improvement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3A5C"/>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9601200" cy="914400"/>
          </a:xfrm>
          <a:prstGeom prst="rect">
            <a:avLst/>
          </a:prstGeom>
          <a:noFill/>
        </p:spPr>
        <p:txBody>
          <a:bodyPr wrap="square">
            <a:spAutoFit/>
          </a:bodyPr>
          <a:lstStyle/>
          <a:p>
            <a:pPr algn="ctr">
              <a:defRPr sz="4800" b="1">
                <a:solidFill>
                  <a:srgbClr val="FFFFFF"/>
                </a:solidFill>
                <a:latin typeface="Calibri"/>
              </a:defRPr>
            </a:pPr>
            <a:r>
              <a:rPr dirty="0"/>
              <a:t>Thank You!</a:t>
            </a:r>
          </a:p>
        </p:txBody>
      </p:sp>
      <p:sp>
        <p:nvSpPr>
          <p:cNvPr id="4" name="TextBox 3"/>
          <p:cNvSpPr txBox="1"/>
          <p:nvPr/>
        </p:nvSpPr>
        <p:spPr>
          <a:xfrm>
            <a:off x="1371600" y="3017520"/>
            <a:ext cx="9601200" cy="548640"/>
          </a:xfrm>
          <a:prstGeom prst="rect">
            <a:avLst/>
          </a:prstGeom>
          <a:noFill/>
        </p:spPr>
        <p:txBody>
          <a:bodyPr wrap="square">
            <a:spAutoFit/>
          </a:bodyPr>
          <a:lstStyle/>
          <a:p>
            <a:pPr algn="ctr">
              <a:defRPr sz="3200" b="0">
                <a:solidFill>
                  <a:srgbClr val="E67E22"/>
                </a:solidFill>
                <a:latin typeface="Calibri"/>
              </a:defRPr>
            </a:pPr>
            <a: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TotalTime>
  <Words>3631</Words>
  <Application>Microsoft Office PowerPoint</Application>
  <PresentationFormat>宽屏</PresentationFormat>
  <Paragraphs>288</Paragraphs>
  <Slides>16</Slides>
  <Notes>16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等线</vt:lpstr>
      <vt:lpstr>Arial</vt:lpstr>
      <vt:lpstr>Calibri</vt:lpstr>
      <vt:lpstr>Cambria Math</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皇 新</cp:lastModifiedBy>
  <cp:revision>714</cp:revision>
  <dcterms:created xsi:type="dcterms:W3CDTF">2013-01-27T09:14:16Z</dcterms:created>
  <dcterms:modified xsi:type="dcterms:W3CDTF">2026-06-12T02:48:00Z</dcterms:modified>
  <cp:category/>
</cp:coreProperties>
</file>